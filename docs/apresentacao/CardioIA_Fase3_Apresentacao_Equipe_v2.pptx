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c8dd2211db3463d" /><Relationship Type="http://schemas.openxmlformats.org/officeDocument/2006/relationships/extended-properties" Target="/docProps/app.xml" Id="Rd7b83539fccf4179" /><Relationship Type="http://schemas.openxmlformats.org/officeDocument/2006/relationships/officeDocument" Target="/ppt/presentation.xml" Id="R9449da01db53439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f970f51728c418e"/>
  </p:sldMasterIdLst>
  <p:notesMasterIdLst>
    <p:notesMasterId xmlns:r="http://schemas.openxmlformats.org/officeDocument/2006/relationships" r:id="Rf5ba48ef84c64813"/>
  </p:notesMasterIdLst>
  <p:sldIdLst>
    <p:sldId xmlns:r="http://schemas.openxmlformats.org/officeDocument/2006/relationships" id="256" r:id="R0e0f3da000d14a57"/>
    <p:sldId xmlns:r="http://schemas.openxmlformats.org/officeDocument/2006/relationships" id="257" r:id="Rf69ec7d5fa3b41e0"/>
    <p:sldId xmlns:r="http://schemas.openxmlformats.org/officeDocument/2006/relationships" id="258" r:id="R4b84c42d6a274a8c"/>
    <p:sldId xmlns:r="http://schemas.openxmlformats.org/officeDocument/2006/relationships" id="259" r:id="Red74a7432c944966"/>
    <p:sldId xmlns:r="http://schemas.openxmlformats.org/officeDocument/2006/relationships" id="260" r:id="R8fa7d3d636f94bed"/>
    <p:sldId xmlns:r="http://schemas.openxmlformats.org/officeDocument/2006/relationships" id="261" r:id="R9355cb5b16b94f75"/>
    <p:sldId xmlns:r="http://schemas.openxmlformats.org/officeDocument/2006/relationships" id="262" r:id="R4e99028105cb4996"/>
    <p:sldId xmlns:r="http://schemas.openxmlformats.org/officeDocument/2006/relationships" id="263" r:id="R012de3b2a1144995"/>
    <p:sldId xmlns:r="http://schemas.openxmlformats.org/officeDocument/2006/relationships" id="264" r:id="Rcd701a39def040d8"/>
    <p:sldId xmlns:r="http://schemas.openxmlformats.org/officeDocument/2006/relationships" id="265" r:id="Rd01b19015c994625"/>
    <p:sldId xmlns:r="http://schemas.openxmlformats.org/officeDocument/2006/relationships" id="266" r:id="R5df8aa494f56453e"/>
    <p:sldId xmlns:r="http://schemas.openxmlformats.org/officeDocument/2006/relationships" id="267" r:id="Rf8b8a9a96f7b48f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872a26a378d4d3b" /><Relationship Type="http://schemas.openxmlformats.org/officeDocument/2006/relationships/slideMaster" Target="/ppt/slideMasters/slideMaster1.xml" Id="Rcf970f51728c418e" /><Relationship Type="http://schemas.openxmlformats.org/officeDocument/2006/relationships/notesMaster" Target="/ppt/notesMasters/notesMaster1.xml" Id="Rf5ba48ef84c64813" /><Relationship Type="http://schemas.openxmlformats.org/officeDocument/2006/relationships/presProps" Target="/ppt/presProps.xml" Id="Rf80a1b927ee94ac0" /><Relationship Type="http://schemas.openxmlformats.org/officeDocument/2006/relationships/tableStyles" Target="/ppt/tableStyles.xml" Id="Rdf631b5ce28e411b" /><Relationship Type="http://schemas.openxmlformats.org/officeDocument/2006/relationships/slide" Target="/ppt/slides/slide1.xml" Id="R0e0f3da000d14a57" /><Relationship Type="http://schemas.openxmlformats.org/officeDocument/2006/relationships/slide" Target="/ppt/slides/slide2.xml" Id="Rf69ec7d5fa3b41e0" /><Relationship Type="http://schemas.openxmlformats.org/officeDocument/2006/relationships/slide" Target="/ppt/slides/slide3.xml" Id="R4b84c42d6a274a8c" /><Relationship Type="http://schemas.openxmlformats.org/officeDocument/2006/relationships/slide" Target="/ppt/slides/slide4.xml" Id="Red74a7432c944966" /><Relationship Type="http://schemas.openxmlformats.org/officeDocument/2006/relationships/slide" Target="/ppt/slides/slide5.xml" Id="R8fa7d3d636f94bed" /><Relationship Type="http://schemas.openxmlformats.org/officeDocument/2006/relationships/slide" Target="/ppt/slides/slide6.xml" Id="R9355cb5b16b94f75" /><Relationship Type="http://schemas.openxmlformats.org/officeDocument/2006/relationships/slide" Target="/ppt/slides/slide7.xml" Id="R4e99028105cb4996" /><Relationship Type="http://schemas.openxmlformats.org/officeDocument/2006/relationships/slide" Target="/ppt/slides/slide8.xml" Id="R012de3b2a1144995" /><Relationship Type="http://schemas.openxmlformats.org/officeDocument/2006/relationships/slide" Target="/ppt/slides/slide9.xml" Id="Rcd701a39def040d8" /><Relationship Type="http://schemas.openxmlformats.org/officeDocument/2006/relationships/slide" Target="/ppt/slides/slide10.xml" Id="Rd01b19015c994625" /><Relationship Type="http://schemas.openxmlformats.org/officeDocument/2006/relationships/slide" Target="/ppt/slides/slide11.xml" Id="R5df8aa494f56453e" /><Relationship Type="http://schemas.openxmlformats.org/officeDocument/2006/relationships/slide" Target="/ppt/slides/slide12.xml" Id="Rf8b8a9a96f7b48f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4b4d367aaeb427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99827f3b1fd429a" /><Relationship Type="http://schemas.openxmlformats.org/officeDocument/2006/relationships/notesMaster" Target="/ppt/notesMasters/notesMaster1.xml" Id="Rdb64feeef90e45c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1ee6e0498ea4235" /><Relationship Type="http://schemas.openxmlformats.org/officeDocument/2006/relationships/notesMaster" Target="/ppt/notesMasters/notesMaster1.xml" Id="Rcd6b5e681ea1422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9903db360a740f4" /><Relationship Type="http://schemas.openxmlformats.org/officeDocument/2006/relationships/notesMaster" Target="/ppt/notesMasters/notesMaster1.xml" Id="R6defeede7415420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1b107d357b34311" /><Relationship Type="http://schemas.openxmlformats.org/officeDocument/2006/relationships/notesMaster" Target="/ppt/notesMasters/notesMaster1.xml" Id="Rfd28ce41b1164c1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ca204129b05416e" /><Relationship Type="http://schemas.openxmlformats.org/officeDocument/2006/relationships/notesMaster" Target="/ppt/notesMasters/notesMaster1.xml" Id="Ra179594b706242f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4425aa18d394710" /><Relationship Type="http://schemas.openxmlformats.org/officeDocument/2006/relationships/notesMaster" Target="/ppt/notesMasters/notesMaster1.xml" Id="R7eb3ecd68b0f46d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3e758deda4f429e" /><Relationship Type="http://schemas.openxmlformats.org/officeDocument/2006/relationships/notesMaster" Target="/ppt/notesMasters/notesMaster1.xml" Id="Re3a360be3a704eb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77437c52a454de5" /><Relationship Type="http://schemas.openxmlformats.org/officeDocument/2006/relationships/notesMaster" Target="/ppt/notesMasters/notesMaster1.xml" Id="Rfa0b5b4a566c49f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338b5f74b154858" /><Relationship Type="http://schemas.openxmlformats.org/officeDocument/2006/relationships/notesMaster" Target="/ppt/notesMasters/notesMaster1.xml" Id="Rc9098be13230443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83c9125b95244fa" /><Relationship Type="http://schemas.openxmlformats.org/officeDocument/2006/relationships/notesMaster" Target="/ppt/notesMasters/notesMaster1.xml" Id="R622602439a4c46d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e16f5f1ce9d483c" /><Relationship Type="http://schemas.openxmlformats.org/officeDocument/2006/relationships/notesMaster" Target="/ppt/notesMasters/notesMaster1.xml" Id="Recb68cebb817466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9afe9e541454430" /><Relationship Type="http://schemas.openxmlformats.org/officeDocument/2006/relationships/notesMaster" Target="/ppt/notesMasters/notesMaster1.xml" Id="Rbe482a8d119b440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8177dd1a014f9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8f9026598348d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fd7e4992ac446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15ccfbc32447c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2da95ecdc34e7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6af9f90537445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C137574-2801-4352-94B9-100E8711D1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90555E8-6611-4314-8320-D6EA8C56732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1D55E53-EAC8-436F-B14A-5A96D95C68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F49C70A-0E79-47DE-B3A4-7DCBB8DB04F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FD283C6-0227-4437-935C-8FA4FFEF19A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839DA36-E12E-4276-98AF-D8AE9F801C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44C2922-758B-40E4-91CC-55FF57BFAF3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D6E1ED8-F67F-4694-9310-4158E46FE73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4CF5082-6833-4605-9E98-8CF3D55A75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1545E53-45E1-489D-98EB-2DC4109E8C1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1e56b6cc7a7411b" /><Relationship Type="http://schemas.openxmlformats.org/officeDocument/2006/relationships/slideLayout" Target="/ppt/slideLayouts/slideLayout1.xml" Id="R07c164e2c32948a3" /><Relationship Type="http://schemas.openxmlformats.org/officeDocument/2006/relationships/slideLayout" Target="/ppt/slideLayouts/slideLayout2.xml" Id="R69bbec431a5c49ba" /><Relationship Type="http://schemas.openxmlformats.org/officeDocument/2006/relationships/slideLayout" Target="/ppt/slideLayouts/slideLayout3.xml" Id="R1cc4e53196674321" /><Relationship Type="http://schemas.openxmlformats.org/officeDocument/2006/relationships/slideLayout" Target="/ppt/slideLayouts/slideLayout4.xml" Id="R502af9e315be42db" /><Relationship Type="http://schemas.openxmlformats.org/officeDocument/2006/relationships/slideLayout" Target="/ppt/slideLayouts/slideLayout5.xml" Id="R3bde1aa94e8342c1" /><Relationship Type="http://schemas.openxmlformats.org/officeDocument/2006/relationships/slideLayout" Target="/ppt/slideLayouts/slideLayout6.xml" Id="R0a59d0e2bb25421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7c164e2c32948a3"/>
    <p:sldLayoutId xmlns:r="http://schemas.openxmlformats.org/officeDocument/2006/relationships" id="2147483650" r:id="R69bbec431a5c49ba"/>
    <p:sldLayoutId xmlns:r="http://schemas.openxmlformats.org/officeDocument/2006/relationships" id="2147483651" r:id="R1cc4e53196674321"/>
    <p:sldLayoutId xmlns:r="http://schemas.openxmlformats.org/officeDocument/2006/relationships" id="2147483652" r:id="R502af9e315be42db"/>
    <p:sldLayoutId xmlns:r="http://schemas.openxmlformats.org/officeDocument/2006/relationships" id="2147483653" r:id="R3bde1aa94e8342c1"/>
    <p:sldLayoutId xmlns:r="http://schemas.openxmlformats.org/officeDocument/2006/relationships" id="2147483654" r:id="R0a59d0e2bb25421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ad477c60b84cf2" /><Relationship Type="http://schemas.openxmlformats.org/officeDocument/2006/relationships/image" Target="/ppt/media/image.jpeg" Id="R799c96cba75243ee" /><Relationship Type="http://schemas.openxmlformats.org/officeDocument/2006/relationships/notesSlide" Target="/ppt/notesSlides/notesSlide1.xml" Id="R437fcfcd3d054ad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37626059ee4324" /><Relationship Type="http://schemas.openxmlformats.org/officeDocument/2006/relationships/notesSlide" Target="/ppt/notesSlides/notesSlide2.xml" Id="R020b5591c89948a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e6ba038a424210" /><Relationship Type="http://schemas.openxmlformats.org/officeDocument/2006/relationships/notesSlide" Target="/ppt/notesSlides/notesSlide3.xml" Id="R5770f254954647c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74c2230e624aed" /><Relationship Type="http://schemas.openxmlformats.org/officeDocument/2006/relationships/image" Target="/ppt/media/image2.jpeg" Id="R0c7de535397f4118" /><Relationship Type="http://schemas.openxmlformats.org/officeDocument/2006/relationships/notesSlide" Target="/ppt/notesSlides/notesSlide4.xml" Id="Rd4a0f4e53f95409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96c8bc13ad48c1" /><Relationship Type="http://schemas.openxmlformats.org/officeDocument/2006/relationships/image" Target="/ppt/media/image3.jpeg" Id="R44f4fa4717cf43ba" /><Relationship Type="http://schemas.openxmlformats.org/officeDocument/2006/relationships/notesSlide" Target="/ppt/notesSlides/notesSlide5.xml" Id="R53f76903d3f3456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7dceafa1ab4dbb" /><Relationship Type="http://schemas.openxmlformats.org/officeDocument/2006/relationships/image" Target="/ppt/media/image4.jpeg" Id="Re4f9e3782596422a" /><Relationship Type="http://schemas.openxmlformats.org/officeDocument/2006/relationships/notesSlide" Target="/ppt/notesSlides/notesSlide6.xml" Id="R8275919d46214df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68668914fe4f88" /><Relationship Type="http://schemas.openxmlformats.org/officeDocument/2006/relationships/image" Target="/ppt/media/image5.jpeg" Id="Rf4e4b470bdf44e04" /><Relationship Type="http://schemas.openxmlformats.org/officeDocument/2006/relationships/notesSlide" Target="/ppt/notesSlides/notesSlide7.xml" Id="R97fa63f294b94d9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97fbe346c24361" /><Relationship Type="http://schemas.openxmlformats.org/officeDocument/2006/relationships/image" Target="/ppt/media/image6.jpeg" Id="R65a0c576201a4ff9" /><Relationship Type="http://schemas.openxmlformats.org/officeDocument/2006/relationships/image" Target="/ppt/media/image7.jpeg" Id="R60ac19559a7f4aa7" /><Relationship Type="http://schemas.openxmlformats.org/officeDocument/2006/relationships/image" Target="/ppt/media/image8.jpeg" Id="Rc58172136c9f4dcb" /><Relationship Type="http://schemas.openxmlformats.org/officeDocument/2006/relationships/notesSlide" Target="/ppt/notesSlides/notesSlide8.xml" Id="Rf877c4391817447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90725dd7d94449" /><Relationship Type="http://schemas.openxmlformats.org/officeDocument/2006/relationships/image" Target="/ppt/media/image9.jpeg" Id="Rdbecc5fd54304249" /><Relationship Type="http://schemas.openxmlformats.org/officeDocument/2006/relationships/notesSlide" Target="/ppt/notesSlides/notesSlide9.xml" Id="R129ad717d90e4b7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fdb71fcd01423d" /><Relationship Type="http://schemas.openxmlformats.org/officeDocument/2006/relationships/notesSlide" Target="/ppt/notesSlides/notesSlide10.xml" Id="R60ec6930480f47f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10c33f04c2445e" /><Relationship Type="http://schemas.openxmlformats.org/officeDocument/2006/relationships/notesSlide" Target="/ppt/notesSlides/notesSlide11.xml" Id="R09e538d668014ab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7bf08904e54eed" /><Relationship Type="http://schemas.openxmlformats.org/officeDocument/2006/relationships/hyperlink" Target="https://github.com/FabricioMouzer/CardioIA-Fase3-Monitoramento-IoT" TargetMode="External" Id="Ra45b5cc471dc4834" /><Relationship Type="http://schemas.openxmlformats.org/officeDocument/2006/relationships/hyperlink" Target="https://wokwi.com/projects/478851580032675841" TargetMode="External" Id="Re43540fa814f4ebc" /><Relationship Type="http://schemas.openxmlformats.org/officeDocument/2006/relationships/hyperlink" Target="https://cardioia-fase3-dashboard.onrender.com/dashboard/monitoramento" TargetMode="External" Id="Rb0c5361c6d2a4832" /><Relationship Type="http://schemas.openxmlformats.org/officeDocument/2006/relationships/hyperlink" Target="https://github.com/FabricioMouzer/CardioIA-Fase3-Monitoramento-IoT/blob/main/docs/relatorios/CardioIA_Parte_1_Edge_Computing.pdf" TargetMode="External" Id="R32456997e7bb42a3" /><Relationship Type="http://schemas.openxmlformats.org/officeDocument/2006/relationships/hyperlink" Target="https://github.com/FabricioMouzer/CardioIA-Fase3-Monitoramento-IoT/blob/main/docs/relatorios/CardioIA_Parte_2_MQTT_Dashboard.pdf" TargetMode="External" Id="R7a55139b4c6d45e7" /><Relationship Type="http://schemas.openxmlformats.org/officeDocument/2006/relationships/notesSlide" Target="/ppt/notesSlides/notesSlide12.xml" Id="R04772b9c43554c5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9094C6-B060-40A4-B2E0-B668D5D1E06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9c96cba75243ee"/>
          <a:srcRect xmlns:a="http://schemas.openxmlformats.org/drawingml/2006/main" l="0" t="9058" r="0" b="905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667"/>
            </a:avLst>
          </a:prstGeom>
        </p:spPr>
      </p:pic>
      <p:sp>
        <p:nvSpPr>
          <p:cNvPr id="2" name="cover-overlay">
            <a:extLst xmlns:a="http://schemas.openxmlformats.org/drawingml/2006/main">
              <a:ext uri="{FF2B5EF4-FFF2-40B4-BE49-F238E27FC236}">
                <a16:creationId xmlns:a16="http://schemas.microsoft.com/office/drawing/2014/main" id="{C80C3637-95BE-4A62-A55A-E246B4EC8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286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16B8E357-8878-48C0-A7F3-787565C12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1AA91DD2-DD70-4536-864E-EEA75B185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858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1350" b="1">
                <a:solidFill>
                  <a:srgbClr val="00A6C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1">
                <a:solidFill>
                  <a:srgbClr val="00A6C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1">
                <a:solidFill>
                  <a:srgbClr val="00A6C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1">
                <a:solidFill>
                  <a:srgbClr val="00A6C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1">
                <a:solidFill>
                  <a:srgbClr val="00A6C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1">
                <a:solidFill>
                  <a:srgbClr val="00A6C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1">
                <a:solidFill>
                  <a:srgbClr val="00A6C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1">
                <a:solidFill>
                  <a:srgbClr val="00A6C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1">
                <a:solidFill>
                  <a:srgbClr val="00A6C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1">
                <a:solidFill>
                  <a:srgbClr val="00A6C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0A6C8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0A6C8"/>
                </a:solidFill>
                <a:latin typeface="DejaVu Sans"/>
                <a:ea typeface="DejaVu Sans"/>
                <a:cs typeface="DejaVu Sans"/>
              </a:rPr>
              <a:t>FIAP | FASE 3</a:t>
            </a:r>
          </a:p>
        </p:txBody>
      </p:sp>
      <p:sp>
        <p:nvSpPr>
          <p:cNvPr id="5" name="cover-title">
            <a:extLst xmlns:a="http://schemas.openxmlformats.org/drawingml/2006/main">
              <a:ext uri="{FF2B5EF4-FFF2-40B4-BE49-F238E27FC236}">
                <a16:creationId xmlns:a16="http://schemas.microsoft.com/office/drawing/2014/main" id="{48549272-60A3-4D35-8BB8-2930684C2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62100"/>
            <a:ext cx="4762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5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5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5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5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5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5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5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5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5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5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5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5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CardioIA</a:t>
            </a:r>
          </a:p>
        </p:txBody>
      </p:sp>
      <p:sp>
        <p:nvSpPr>
          <p:cNvPr id="6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BD297789-754E-48AD-B21C-3B4BB6A12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19350"/>
            <a:ext cx="45243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23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3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3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3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3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3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3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3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3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3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Monitoramento contínuo com IoT na saúde</a:t>
            </a:r>
          </a:p>
        </p:txBody>
      </p:sp>
      <p:sp>
        <p:nvSpPr>
          <p:cNvPr id="7" name="cover-meta">
            <a:extLst xmlns:a="http://schemas.openxmlformats.org/drawingml/2006/main">
              <a:ext uri="{FF2B5EF4-FFF2-40B4-BE49-F238E27FC236}">
                <a16:creationId xmlns:a16="http://schemas.microsoft.com/office/drawing/2014/main" id="{DFCC5680-7B57-43E4-A7C1-5B2D35B53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0"/>
            <a:ext cx="4572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1425">
                <a:solidFill>
                  <a:srgbClr val="D9E5E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425">
                <a:solidFill>
                  <a:srgbClr val="D9E5E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425">
                <a:solidFill>
                  <a:srgbClr val="D9E5E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425">
                <a:solidFill>
                  <a:srgbClr val="D9E5E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425">
                <a:solidFill>
                  <a:srgbClr val="D9E5E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425">
                <a:solidFill>
                  <a:srgbClr val="D9E5E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425">
                <a:solidFill>
                  <a:srgbClr val="D9E5E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425">
                <a:solidFill>
                  <a:srgbClr val="D9E5E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425">
                <a:solidFill>
                  <a:srgbClr val="D9E5E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425">
                <a:solidFill>
                  <a:srgbClr val="D9E5E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425">
                <a:solidFill>
                  <a:srgbClr val="D9E5EF"/>
                </a:solidFill>
                <a:latin typeface="DejaVu Sans"/>
                <a:ea typeface="DejaVu Sans"/>
                <a:cs typeface="DejaVu Sans"/>
              </a:defRPr>
            </a:pPr>
            <a:r>
              <a:rPr sz="1425">
                <a:solidFill>
                  <a:srgbClr val="D9E5EF"/>
                </a:solidFill>
                <a:latin typeface="DejaVu Sans"/>
                <a:ea typeface="DejaVu Sans"/>
                <a:cs typeface="DejaVu Sans"/>
              </a:rPr>
              <a:t>ESP32 no Wokwi, Edge Computing, MQTT e Node-RED</a:t>
            </a:r>
          </a:p>
          <a:p xmlns:a="http://schemas.openxmlformats.org/drawingml/2006/main">
            <a:pPr>
              <a:defRPr sz="1425">
                <a:solidFill>
                  <a:srgbClr val="D9E5EF"/>
                </a:solidFill>
                <a:latin typeface="DejaVu Sans"/>
                <a:ea typeface="DejaVu Sans"/>
                <a:cs typeface="DejaVu Sans"/>
              </a:defRPr>
            </a:pPr>
            <a:r>
              <a:rPr sz="1425">
                <a:solidFill>
                  <a:srgbClr val="D9E5EF"/>
                </a:solidFill>
                <a:latin typeface="DejaVu Sans"/>
                <a:ea typeface="DejaVu Sans"/>
                <a:cs typeface="DejaVu Sans"/>
              </a:rPr>
              <a:t>Equipe CardioIA | 25/10/2026</a:t>
            </a:r>
          </a:p>
        </p:txBody>
      </p:sp>
    </p:spTree>
    <p:extLst>
      <p:ext uri="{BB962C8B-B14F-4D97-AF65-F5344CB8AC3E}">
        <p14:creationId xmlns:p14="http://schemas.microsoft.com/office/powerpoint/2010/main" val="7824903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-2">
            <a:extLst xmlns:a="http://schemas.openxmlformats.org/drawingml/2006/main">
              <a:ext uri="{FF2B5EF4-FFF2-40B4-BE49-F238E27FC236}">
                <a16:creationId xmlns:a16="http://schemas.microsoft.com/office/drawing/2014/main" id="{F3423AC4-1B7B-4364-9DFC-D3FB07319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952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3225" b="1">
                <a:solidFill>
                  <a:srgbClr val="08172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225" b="1">
                <a:solidFill>
                  <a:srgbClr val="08172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225" b="1">
                <a:solidFill>
                  <a:srgbClr val="08172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225" b="1">
                <a:solidFill>
                  <a:srgbClr val="08172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225" b="1">
                <a:solidFill>
                  <a:srgbClr val="08172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225" b="1">
                <a:solidFill>
                  <a:srgbClr val="08172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225" b="1">
                <a:solidFill>
                  <a:srgbClr val="08172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225" b="1">
                <a:solidFill>
                  <a:srgbClr val="08172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225" b="1">
                <a:solidFill>
                  <a:srgbClr val="08172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225" b="1">
                <a:solidFill>
                  <a:srgbClr val="0817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08172C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08172C"/>
                </a:solidFill>
                <a:latin typeface="DejaVu Sans"/>
                <a:ea typeface="DejaVu Sans"/>
                <a:cs typeface="DejaVu Sans"/>
              </a:rPr>
              <a:t>Objetivo do protótipo</a:t>
            </a:r>
          </a:p>
        </p:txBody>
      </p:sp>
      <p:sp>
        <p:nvSpPr>
          <p:cNvPr id="2" name="accent-2">
            <a:extLst xmlns:a="http://schemas.openxmlformats.org/drawingml/2006/main">
              <a:ext uri="{FF2B5EF4-FFF2-40B4-BE49-F238E27FC236}">
                <a16:creationId xmlns:a16="http://schemas.microsoft.com/office/drawing/2014/main" id="{77C0FEB2-2365-4F72-ACB9-84CEB40AD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8191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-2">
            <a:extLst xmlns:a="http://schemas.openxmlformats.org/drawingml/2006/main">
              <a:ext uri="{FF2B5EF4-FFF2-40B4-BE49-F238E27FC236}">
                <a16:creationId xmlns:a16="http://schemas.microsoft.com/office/drawing/2014/main" id="{0F9406CA-CBB3-4EB7-8B2B-3AFEB9673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5720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r">
              <a:defRPr sz="1425" b="1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425" b="1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425" b="1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425" b="1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425" b="1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425" b="1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425" b="1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425" b="1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425" b="1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425" b="1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425" b="1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68788D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4" name="objective-main">
            <a:extLst xmlns:a="http://schemas.openxmlformats.org/drawingml/2006/main">
              <a:ext uri="{FF2B5EF4-FFF2-40B4-BE49-F238E27FC236}">
                <a16:creationId xmlns:a16="http://schemas.microsoft.com/office/drawing/2014/main" id="{527EC94E-83F0-40C0-83F6-9A4FD5291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8580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2850" b="1">
                <a:solidFill>
                  <a:srgbClr val="08172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850" b="1">
                <a:solidFill>
                  <a:srgbClr val="08172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850" b="1">
                <a:solidFill>
                  <a:srgbClr val="08172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850" b="1">
                <a:solidFill>
                  <a:srgbClr val="08172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850" b="1">
                <a:solidFill>
                  <a:srgbClr val="08172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850" b="1">
                <a:solidFill>
                  <a:srgbClr val="08172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850" b="1">
                <a:solidFill>
                  <a:srgbClr val="08172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850" b="1">
                <a:solidFill>
                  <a:srgbClr val="08172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850" b="1">
                <a:solidFill>
                  <a:srgbClr val="08172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850" b="1">
                <a:solidFill>
                  <a:srgbClr val="0817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08172C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08172C"/>
                </a:solidFill>
                <a:latin typeface="DejaVu Sans"/>
                <a:ea typeface="DejaVu Sans"/>
                <a:cs typeface="DejaVu Sans"/>
              </a:rPr>
              <a:t>Simular o ciclo completo de monitoramento cardíaco sem usar dados reais de pacientes</a:t>
            </a:r>
          </a:p>
        </p:txBody>
      </p:sp>
      <p:sp>
        <p:nvSpPr>
          <p:cNvPr id="5" name="objective-detail">
            <a:extLst xmlns:a="http://schemas.openxmlformats.org/drawingml/2006/main">
              <a:ext uri="{FF2B5EF4-FFF2-40B4-BE49-F238E27FC236}">
                <a16:creationId xmlns:a16="http://schemas.microsoft.com/office/drawing/2014/main" id="{30461F07-1155-46BD-B68D-EBBBBE76D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666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1800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00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pPr>
            <a:r>
              <a:rPr sz="1800">
                <a:solidFill>
                  <a:srgbClr val="1D2A3A"/>
                </a:solidFill>
                <a:latin typeface="DejaVu Sans"/>
                <a:ea typeface="DejaVu Sans"/>
                <a:cs typeface="DejaVu Sans"/>
              </a:rPr>
              <a:t>O ESP32 coleta sinais sintéticos, decide alertas no Edge, mantém amostras durante falhas e publica o histórico na nuvem para visualização.</a:t>
            </a:r>
          </a:p>
        </p:txBody>
      </p:sp>
      <p:sp>
        <p:nvSpPr>
          <p:cNvPr id="6" name="objective-ring">
            <a:extLst xmlns:a="http://schemas.openxmlformats.org/drawingml/2006/main">
              <a:ext uri="{FF2B5EF4-FFF2-40B4-BE49-F238E27FC236}">
                <a16:creationId xmlns:a16="http://schemas.microsoft.com/office/drawing/2014/main" id="{B5DDADF4-6F2A-4B4A-87AA-9873DD31C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666875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4F8"/>
          </a:solidFill>
          <a:ln xmlns:a="http://schemas.openxmlformats.org/drawingml/2006/main" w="66675">
            <a:solidFill>
              <a:srgbClr val="00A6C8"/>
            </a:solidFill>
            <a:prstDash val="solid"/>
          </a:ln>
        </p:spPr>
      </p:sp>
      <p:sp>
        <p:nvSpPr>
          <p:cNvPr id="7" name="objective-loop">
            <a:extLst xmlns:a="http://schemas.openxmlformats.org/drawingml/2006/main">
              <a:ext uri="{FF2B5EF4-FFF2-40B4-BE49-F238E27FC236}">
                <a16:creationId xmlns:a16="http://schemas.microsoft.com/office/drawing/2014/main" id="{71F660FF-7667-4D3D-BAF4-31E324E12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28825"/>
            <a:ext cx="15240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800" b="1">
                <a:solidFill>
                  <a:srgbClr val="0B78D0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800" b="1">
                <a:solidFill>
                  <a:srgbClr val="0B78D0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800" b="1">
                <a:solidFill>
                  <a:srgbClr val="0B78D0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800" b="1">
                <a:solidFill>
                  <a:srgbClr val="0B78D0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800" b="1">
                <a:solidFill>
                  <a:srgbClr val="0B78D0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800" b="1">
                <a:solidFill>
                  <a:srgbClr val="0B78D0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800" b="1">
                <a:solidFill>
                  <a:srgbClr val="0B78D0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800" b="1">
                <a:solidFill>
                  <a:srgbClr val="0B78D0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800" b="1">
                <a:solidFill>
                  <a:srgbClr val="0B78D0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800" b="1">
                <a:solidFill>
                  <a:srgbClr val="0B78D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B78D0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B78D0"/>
                </a:solidFill>
                <a:latin typeface="DejaVu Sans"/>
                <a:ea typeface="DejaVu Sans"/>
                <a:cs typeface="DejaVu Sans"/>
              </a:rPr>
              <a:t>CAPTURA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800" b="1">
                <a:solidFill>
                  <a:srgbClr val="0B78D0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B78D0"/>
                </a:solidFill>
                <a:latin typeface="DejaVu Sans"/>
                <a:ea typeface="DejaVu Sans"/>
                <a:cs typeface="DejaVu Sans"/>
              </a:rPr>
              <a:t>PROCESSA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800" b="1">
                <a:solidFill>
                  <a:srgbClr val="0B78D0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B78D0"/>
                </a:solidFill>
                <a:latin typeface="DejaVu Sans"/>
                <a:ea typeface="DejaVu Sans"/>
                <a:cs typeface="DejaVu Sans"/>
              </a:rPr>
              <a:t>ALERTA</a:t>
            </a:r>
          </a:p>
        </p:txBody>
      </p:sp>
      <p:sp>
        <p:nvSpPr>
          <p:cNvPr id="8" name="objective-note">
            <a:extLst xmlns:a="http://schemas.openxmlformats.org/drawingml/2006/main">
              <a:ext uri="{FF2B5EF4-FFF2-40B4-BE49-F238E27FC236}">
                <a16:creationId xmlns:a16="http://schemas.microsoft.com/office/drawing/2014/main" id="{B3857C2F-9B16-41A2-8AEB-1B5D93ECD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1500" b="1">
                <a:solidFill>
                  <a:srgbClr val="159A72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00" b="1">
                <a:solidFill>
                  <a:srgbClr val="159A72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00" b="1">
                <a:solidFill>
                  <a:srgbClr val="159A72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00" b="1">
                <a:solidFill>
                  <a:srgbClr val="159A72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00" b="1">
                <a:solidFill>
                  <a:srgbClr val="159A72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00" b="1">
                <a:solidFill>
                  <a:srgbClr val="159A72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00" b="1">
                <a:solidFill>
                  <a:srgbClr val="159A72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00" b="1">
                <a:solidFill>
                  <a:srgbClr val="159A72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00" b="1">
                <a:solidFill>
                  <a:srgbClr val="159A72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00" b="1">
                <a:solidFill>
                  <a:srgbClr val="159A7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59A72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159A72"/>
                </a:solidFill>
                <a:latin typeface="DejaVu Sans"/>
                <a:ea typeface="DejaVu Sans"/>
                <a:cs typeface="DejaVu Sans"/>
              </a:rPr>
              <a:t>Escopo acadêmico. Limites didáticos. Dados exclusivamente sintéticos.</a:t>
            </a:r>
          </a:p>
        </p:txBody>
      </p:sp>
      <p:sp>
        <p:nvSpPr>
          <p:cNvPr id="9" name="footer-2">
            <a:extLst xmlns:a="http://schemas.openxmlformats.org/drawingml/2006/main">
              <a:ext uri="{FF2B5EF4-FFF2-40B4-BE49-F238E27FC236}">
                <a16:creationId xmlns:a16="http://schemas.microsoft.com/office/drawing/2014/main" id="{F74155DD-1BD6-45F2-AD4B-E3759EBE5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975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975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975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975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975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975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975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975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975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975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975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pPr>
            <a:r>
              <a:rPr sz="975">
                <a:solidFill>
                  <a:srgbClr val="68788D"/>
                </a:solidFill>
                <a:latin typeface="DejaVu Sans"/>
                <a:ea typeface="DejaVu Sans"/>
                <a:cs typeface="DejaVu Sans"/>
              </a:rPr>
              <a:t>CardioIA | FIAP | Fase 3</a:t>
            </a:r>
          </a:p>
        </p:txBody>
      </p:sp>
    </p:spTree>
    <p:extLst>
      <p:ext uri="{BB962C8B-B14F-4D97-AF65-F5344CB8AC3E}">
        <p14:creationId xmlns:p14="http://schemas.microsoft.com/office/powerpoint/2010/main" val="154592416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542828-EA57-4C1F-8175-4678A13A2D69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9334500" y="2819400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0A6C8"/>
            </a:solidFill>
            <a:prstDash val="solid"/>
            <a:tailEnd type="arrow" w="med" len="med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C752E5-A7C9-4F72-B846-6C43FD616E14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7010400" y="2819400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0A6C8"/>
            </a:solidFill>
            <a:prstDash val="solid"/>
            <a:tailEnd type="arrow" w="med" len="med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C842AA-70A5-448B-8767-18C0E6BFA8E6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4686300" y="2819400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0A6C8"/>
            </a:solidFill>
            <a:prstDash val="solid"/>
            <a:tailEnd type="arrow" w="med" len="med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99C57E-B552-4680-8977-487AC0A6BFF6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362200" y="2819400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0A6C8"/>
            </a:solidFill>
            <a:prstDash val="solid"/>
            <a:tailEnd type="arrow" w="med" len="med"/>
          </a:ln>
        </p:spPr>
      </p:cxnSp>
      <p:sp>
        <p:nvSpPr>
          <p:cNvPr id="25" name="title-3">
            <a:extLst xmlns:a="http://schemas.openxmlformats.org/drawingml/2006/main">
              <a:ext uri="{FF2B5EF4-FFF2-40B4-BE49-F238E27FC236}">
                <a16:creationId xmlns:a16="http://schemas.microsoft.com/office/drawing/2014/main" id="{2BD581C7-028D-40CA-8C49-067F8CCCF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952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3225" b="1">
                <a:solidFill>
                  <a:srgbClr val="08172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225" b="1">
                <a:solidFill>
                  <a:srgbClr val="08172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225" b="1">
                <a:solidFill>
                  <a:srgbClr val="08172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225" b="1">
                <a:solidFill>
                  <a:srgbClr val="08172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225" b="1">
                <a:solidFill>
                  <a:srgbClr val="08172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225" b="1">
                <a:solidFill>
                  <a:srgbClr val="08172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225" b="1">
                <a:solidFill>
                  <a:srgbClr val="08172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225" b="1">
                <a:solidFill>
                  <a:srgbClr val="08172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225" b="1">
                <a:solidFill>
                  <a:srgbClr val="08172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225" b="1">
                <a:solidFill>
                  <a:srgbClr val="0817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08172C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08172C"/>
                </a:solidFill>
                <a:latin typeface="DejaVu Sans"/>
                <a:ea typeface="DejaVu Sans"/>
                <a:cs typeface="DejaVu Sans"/>
              </a:rPr>
              <a:t>Arquitetura do fluxo</a:t>
            </a:r>
          </a:p>
        </p:txBody>
      </p:sp>
      <p:sp>
        <p:nvSpPr>
          <p:cNvPr id="2" name="accent-3">
            <a:extLst xmlns:a="http://schemas.openxmlformats.org/drawingml/2006/main">
              <a:ext uri="{FF2B5EF4-FFF2-40B4-BE49-F238E27FC236}">
                <a16:creationId xmlns:a16="http://schemas.microsoft.com/office/drawing/2014/main" id="{7FC99BC7-B303-4A36-9193-1533AB4F3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8191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-3">
            <a:extLst xmlns:a="http://schemas.openxmlformats.org/drawingml/2006/main">
              <a:ext uri="{FF2B5EF4-FFF2-40B4-BE49-F238E27FC236}">
                <a16:creationId xmlns:a16="http://schemas.microsoft.com/office/drawing/2014/main" id="{243AFD04-15EA-48C8-B233-78D569F82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5720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r">
              <a:defRPr sz="1425" b="1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425" b="1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425" b="1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425" b="1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425" b="1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425" b="1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425" b="1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425" b="1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425" b="1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425" b="1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425" b="1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68788D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4" name="arch-node-0">
            <a:extLst xmlns:a="http://schemas.openxmlformats.org/drawingml/2006/main">
              <a:ext uri="{FF2B5EF4-FFF2-40B4-BE49-F238E27FC236}">
                <a16:creationId xmlns:a16="http://schemas.microsoft.com/office/drawing/2014/main" id="{8F9199B2-7709-4F1D-B194-022403521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90750"/>
            <a:ext cx="18097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DF4F8"/>
          </a:solidFill>
          <a:ln xmlns:a="http://schemas.openxmlformats.org/drawingml/2006/main" w="19050">
            <a:solidFill>
              <a:srgbClr val="C8D7E4"/>
            </a:solidFill>
            <a:prstDash val="solid"/>
          </a:ln>
        </p:spPr>
      </p:sp>
      <p:sp>
        <p:nvSpPr>
          <p:cNvPr id="5" name="arch-label-0">
            <a:extLst xmlns:a="http://schemas.openxmlformats.org/drawingml/2006/main">
              <a:ext uri="{FF2B5EF4-FFF2-40B4-BE49-F238E27FC236}">
                <a16:creationId xmlns:a16="http://schemas.microsoft.com/office/drawing/2014/main" id="{419271CF-BA8A-4E35-93D3-D15837E94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6220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500" b="1">
                <a:solidFill>
                  <a:srgbClr val="0B78D0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500" b="1">
                <a:solidFill>
                  <a:srgbClr val="0B78D0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500" b="1">
                <a:solidFill>
                  <a:srgbClr val="0B78D0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500" b="1">
                <a:solidFill>
                  <a:srgbClr val="0B78D0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500" b="1">
                <a:solidFill>
                  <a:srgbClr val="0B78D0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500" b="1">
                <a:solidFill>
                  <a:srgbClr val="0B78D0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500" b="1">
                <a:solidFill>
                  <a:srgbClr val="0B78D0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500" b="1">
                <a:solidFill>
                  <a:srgbClr val="0B78D0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500" b="1">
                <a:solidFill>
                  <a:srgbClr val="0B78D0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500" b="1">
                <a:solidFill>
                  <a:srgbClr val="0B78D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0B78D0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0B78D0"/>
                </a:solidFill>
                <a:latin typeface="DejaVu Sans"/>
                <a:ea typeface="DejaVu Sans"/>
                <a:cs typeface="DejaVu Sans"/>
              </a:rPr>
              <a:t>Sensores</a:t>
            </a:r>
          </a:p>
        </p:txBody>
      </p:sp>
      <p:sp>
        <p:nvSpPr>
          <p:cNvPr id="6" name="arch-value-0">
            <a:extLst xmlns:a="http://schemas.openxmlformats.org/drawingml/2006/main">
              <a:ext uri="{FF2B5EF4-FFF2-40B4-BE49-F238E27FC236}">
                <a16:creationId xmlns:a16="http://schemas.microsoft.com/office/drawing/2014/main" id="{87E2F3B3-24F9-40C4-B797-098278CD7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5430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425" b="1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425" b="1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425" b="1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425" b="1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425" b="1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425" b="1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425" b="1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425" b="1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425" b="1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425" b="1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D2A3A"/>
                </a:solidFill>
                <a:latin typeface="DejaVu Sans"/>
                <a:ea typeface="DejaVu Sans"/>
                <a:cs typeface="DejaVu Sans"/>
              </a:rPr>
              <a:t>DHT22 + BPM</a:t>
            </a:r>
          </a:p>
        </p:txBody>
      </p:sp>
      <p:sp>
        <p:nvSpPr>
          <p:cNvPr id="7" name="arch-node-1">
            <a:extLst xmlns:a="http://schemas.openxmlformats.org/drawingml/2006/main">
              <a:ext uri="{FF2B5EF4-FFF2-40B4-BE49-F238E27FC236}">
                <a16:creationId xmlns:a16="http://schemas.microsoft.com/office/drawing/2014/main" id="{BA4A1B17-793A-4FCF-833D-782131D41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190750"/>
            <a:ext cx="18097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8172C"/>
          </a:solidFill>
          <a:ln xmlns:a="http://schemas.openxmlformats.org/drawingml/2006/main" w="19050">
            <a:solidFill>
              <a:srgbClr val="08172C"/>
            </a:solidFill>
            <a:prstDash val="solid"/>
          </a:ln>
        </p:spPr>
      </p:sp>
      <p:sp>
        <p:nvSpPr>
          <p:cNvPr id="8" name="arch-label-1">
            <a:extLst xmlns:a="http://schemas.openxmlformats.org/drawingml/2006/main">
              <a:ext uri="{FF2B5EF4-FFF2-40B4-BE49-F238E27FC236}">
                <a16:creationId xmlns:a16="http://schemas.microsoft.com/office/drawing/2014/main" id="{DF0A576E-1719-482C-8441-BC2C4EA04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6220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500" b="1">
                <a:solidFill>
                  <a:srgbClr val="00A6C8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500" b="1">
                <a:solidFill>
                  <a:srgbClr val="00A6C8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500" b="1">
                <a:solidFill>
                  <a:srgbClr val="00A6C8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500" b="1">
                <a:solidFill>
                  <a:srgbClr val="00A6C8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500" b="1">
                <a:solidFill>
                  <a:srgbClr val="00A6C8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500" b="1">
                <a:solidFill>
                  <a:srgbClr val="00A6C8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500" b="1">
                <a:solidFill>
                  <a:srgbClr val="00A6C8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500" b="1">
                <a:solidFill>
                  <a:srgbClr val="00A6C8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500" b="1">
                <a:solidFill>
                  <a:srgbClr val="00A6C8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500" b="1">
                <a:solidFill>
                  <a:srgbClr val="00A6C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00A6C8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00A6C8"/>
                </a:solidFill>
                <a:latin typeface="DejaVu Sans"/>
                <a:ea typeface="DejaVu Sans"/>
                <a:cs typeface="DejaVu Sans"/>
              </a:rPr>
              <a:t>Edge</a:t>
            </a:r>
          </a:p>
        </p:txBody>
      </p:sp>
      <p:sp>
        <p:nvSpPr>
          <p:cNvPr id="9" name="arch-value-1">
            <a:extLst xmlns:a="http://schemas.openxmlformats.org/drawingml/2006/main">
              <a:ext uri="{FF2B5EF4-FFF2-40B4-BE49-F238E27FC236}">
                <a16:creationId xmlns:a16="http://schemas.microsoft.com/office/drawing/2014/main" id="{339E935C-9B02-413C-97C9-606A65E2A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81300"/>
            <a:ext cx="15430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ESP32 + FIFO</a:t>
            </a:r>
          </a:p>
        </p:txBody>
      </p:sp>
      <p:sp>
        <p:nvSpPr>
          <p:cNvPr id="10" name="arch-node-2">
            <a:extLst xmlns:a="http://schemas.openxmlformats.org/drawingml/2006/main">
              <a:ext uri="{FF2B5EF4-FFF2-40B4-BE49-F238E27FC236}">
                <a16:creationId xmlns:a16="http://schemas.microsoft.com/office/drawing/2014/main" id="{82C9A19C-F57A-478B-9705-944C9A5E7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90750"/>
            <a:ext cx="18097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DF4F8"/>
          </a:solidFill>
          <a:ln xmlns:a="http://schemas.openxmlformats.org/drawingml/2006/main" w="19050">
            <a:solidFill>
              <a:srgbClr val="C8D7E4"/>
            </a:solidFill>
            <a:prstDash val="solid"/>
          </a:ln>
        </p:spPr>
      </p:sp>
      <p:sp>
        <p:nvSpPr>
          <p:cNvPr id="11" name="arch-label-2">
            <a:extLst xmlns:a="http://schemas.openxmlformats.org/drawingml/2006/main">
              <a:ext uri="{FF2B5EF4-FFF2-40B4-BE49-F238E27FC236}">
                <a16:creationId xmlns:a16="http://schemas.microsoft.com/office/drawing/2014/main" id="{B064338B-4FDC-40C9-B159-637A7D4B8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36220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500" b="1">
                <a:solidFill>
                  <a:srgbClr val="0B78D0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500" b="1">
                <a:solidFill>
                  <a:srgbClr val="0B78D0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500" b="1">
                <a:solidFill>
                  <a:srgbClr val="0B78D0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500" b="1">
                <a:solidFill>
                  <a:srgbClr val="0B78D0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500" b="1">
                <a:solidFill>
                  <a:srgbClr val="0B78D0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500" b="1">
                <a:solidFill>
                  <a:srgbClr val="0B78D0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500" b="1">
                <a:solidFill>
                  <a:srgbClr val="0B78D0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500" b="1">
                <a:solidFill>
                  <a:srgbClr val="0B78D0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500" b="1">
                <a:solidFill>
                  <a:srgbClr val="0B78D0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500" b="1">
                <a:solidFill>
                  <a:srgbClr val="0B78D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0B78D0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0B78D0"/>
                </a:solidFill>
                <a:latin typeface="DejaVu Sans"/>
                <a:ea typeface="DejaVu Sans"/>
                <a:cs typeface="DejaVu Sans"/>
              </a:rPr>
              <a:t>Cloud</a:t>
            </a:r>
          </a:p>
        </p:txBody>
      </p:sp>
      <p:sp>
        <p:nvSpPr>
          <p:cNvPr id="12" name="arch-value-2">
            <a:extLst xmlns:a="http://schemas.openxmlformats.org/drawingml/2006/main">
              <a:ext uri="{FF2B5EF4-FFF2-40B4-BE49-F238E27FC236}">
                <a16:creationId xmlns:a16="http://schemas.microsoft.com/office/drawing/2014/main" id="{8E38E9FD-2F7B-4D9F-B775-FA4F83284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781300"/>
            <a:ext cx="15430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425" b="1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425" b="1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425" b="1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425" b="1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425" b="1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425" b="1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425" b="1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425" b="1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425" b="1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425" b="1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D2A3A"/>
                </a:solidFill>
                <a:latin typeface="DejaVu Sans"/>
                <a:ea typeface="DejaVu Sans"/>
                <a:cs typeface="DejaVu Sans"/>
              </a:rPr>
              <a:t>HiveMQ</a:t>
            </a:r>
          </a:p>
        </p:txBody>
      </p:sp>
      <p:sp>
        <p:nvSpPr>
          <p:cNvPr id="13" name="arch-node-3">
            <a:extLst xmlns:a="http://schemas.openxmlformats.org/drawingml/2006/main">
              <a:ext uri="{FF2B5EF4-FFF2-40B4-BE49-F238E27FC236}">
                <a16:creationId xmlns:a16="http://schemas.microsoft.com/office/drawing/2014/main" id="{333C7EFF-5F5D-4532-95FD-2F08C8746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90750"/>
            <a:ext cx="18097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DF4F8"/>
          </a:solidFill>
          <a:ln xmlns:a="http://schemas.openxmlformats.org/drawingml/2006/main" w="19050">
            <a:solidFill>
              <a:srgbClr val="C8D7E4"/>
            </a:solidFill>
            <a:prstDash val="solid"/>
          </a:ln>
        </p:spPr>
      </p:sp>
      <p:sp>
        <p:nvSpPr>
          <p:cNvPr id="14" name="arch-label-3">
            <a:extLst xmlns:a="http://schemas.openxmlformats.org/drawingml/2006/main">
              <a:ext uri="{FF2B5EF4-FFF2-40B4-BE49-F238E27FC236}">
                <a16:creationId xmlns:a16="http://schemas.microsoft.com/office/drawing/2014/main" id="{43589AA6-EE6B-438A-A082-45D81B356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36220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500" b="1">
                <a:solidFill>
                  <a:srgbClr val="0B78D0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500" b="1">
                <a:solidFill>
                  <a:srgbClr val="0B78D0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500" b="1">
                <a:solidFill>
                  <a:srgbClr val="0B78D0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500" b="1">
                <a:solidFill>
                  <a:srgbClr val="0B78D0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500" b="1">
                <a:solidFill>
                  <a:srgbClr val="0B78D0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500" b="1">
                <a:solidFill>
                  <a:srgbClr val="0B78D0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500" b="1">
                <a:solidFill>
                  <a:srgbClr val="0B78D0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500" b="1">
                <a:solidFill>
                  <a:srgbClr val="0B78D0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500" b="1">
                <a:solidFill>
                  <a:srgbClr val="0B78D0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500" b="1">
                <a:solidFill>
                  <a:srgbClr val="0B78D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0B78D0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0B78D0"/>
                </a:solidFill>
                <a:latin typeface="DejaVu Sans"/>
                <a:ea typeface="DejaVu Sans"/>
                <a:cs typeface="DejaVu Sans"/>
              </a:rPr>
              <a:t>Fog</a:t>
            </a:r>
          </a:p>
        </p:txBody>
      </p:sp>
      <p:sp>
        <p:nvSpPr>
          <p:cNvPr id="15" name="arch-value-3">
            <a:extLst xmlns:a="http://schemas.openxmlformats.org/drawingml/2006/main">
              <a:ext uri="{FF2B5EF4-FFF2-40B4-BE49-F238E27FC236}">
                <a16:creationId xmlns:a16="http://schemas.microsoft.com/office/drawing/2014/main" id="{B8B3DD89-3F5B-4286-96BA-5ED0A8D64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781300"/>
            <a:ext cx="15430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425" b="1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425" b="1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425" b="1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425" b="1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425" b="1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425" b="1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425" b="1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425" b="1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425" b="1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425" b="1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D2A3A"/>
                </a:solidFill>
                <a:latin typeface="DejaVu Sans"/>
                <a:ea typeface="DejaVu Sans"/>
                <a:cs typeface="DejaVu Sans"/>
              </a:rPr>
              <a:t>Node-RED</a:t>
            </a:r>
          </a:p>
        </p:txBody>
      </p:sp>
      <p:sp>
        <p:nvSpPr>
          <p:cNvPr id="16" name="arch-node-4">
            <a:extLst xmlns:a="http://schemas.openxmlformats.org/drawingml/2006/main">
              <a:ext uri="{FF2B5EF4-FFF2-40B4-BE49-F238E27FC236}">
                <a16:creationId xmlns:a16="http://schemas.microsoft.com/office/drawing/2014/main" id="{509B062B-A835-4A7C-997E-1C8BF80F1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190750"/>
            <a:ext cx="18097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DF4F8"/>
          </a:solidFill>
          <a:ln xmlns:a="http://schemas.openxmlformats.org/drawingml/2006/main" w="19050">
            <a:solidFill>
              <a:srgbClr val="C8D7E4"/>
            </a:solidFill>
            <a:prstDash val="solid"/>
          </a:ln>
        </p:spPr>
      </p:sp>
      <p:sp>
        <p:nvSpPr>
          <p:cNvPr id="17" name="arch-label-4">
            <a:extLst xmlns:a="http://schemas.openxmlformats.org/drawingml/2006/main">
              <a:ext uri="{FF2B5EF4-FFF2-40B4-BE49-F238E27FC236}">
                <a16:creationId xmlns:a16="http://schemas.microsoft.com/office/drawing/2014/main" id="{53FBAD17-8320-45C1-BA0F-3BC0C287C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36220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500" b="1">
                <a:solidFill>
                  <a:srgbClr val="0B78D0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500" b="1">
                <a:solidFill>
                  <a:srgbClr val="0B78D0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500" b="1">
                <a:solidFill>
                  <a:srgbClr val="0B78D0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500" b="1">
                <a:solidFill>
                  <a:srgbClr val="0B78D0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500" b="1">
                <a:solidFill>
                  <a:srgbClr val="0B78D0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500" b="1">
                <a:solidFill>
                  <a:srgbClr val="0B78D0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500" b="1">
                <a:solidFill>
                  <a:srgbClr val="0B78D0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500" b="1">
                <a:solidFill>
                  <a:srgbClr val="0B78D0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500" b="1">
                <a:solidFill>
                  <a:srgbClr val="0B78D0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500" b="1">
                <a:solidFill>
                  <a:srgbClr val="0B78D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0B78D0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0B78D0"/>
                </a:solidFill>
                <a:latin typeface="DejaVu Sans"/>
                <a:ea typeface="DejaVu Sans"/>
                <a:cs typeface="DejaVu Sans"/>
              </a:rPr>
              <a:t>Visualização</a:t>
            </a:r>
          </a:p>
        </p:txBody>
      </p:sp>
      <p:sp>
        <p:nvSpPr>
          <p:cNvPr id="18" name="arch-value-4">
            <a:extLst xmlns:a="http://schemas.openxmlformats.org/drawingml/2006/main">
              <a:ext uri="{FF2B5EF4-FFF2-40B4-BE49-F238E27FC236}">
                <a16:creationId xmlns:a16="http://schemas.microsoft.com/office/drawing/2014/main" id="{971F4E99-276C-49C0-9CC7-38DD1DD75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781300"/>
            <a:ext cx="15430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425" b="1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425" b="1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425" b="1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425" b="1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425" b="1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425" b="1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425" b="1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425" b="1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425" b="1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425" b="1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D2A3A"/>
                </a:solidFill>
                <a:latin typeface="DejaVu Sans"/>
                <a:ea typeface="DejaVu Sans"/>
                <a:cs typeface="DejaVu Sans"/>
              </a:rPr>
              <a:t>Dashboard</a:t>
            </a:r>
          </a:p>
        </p:txBody>
      </p:sp>
      <p:sp>
        <p:nvSpPr>
          <p:cNvPr id="23" name="arch-edge-note">
            <a:extLst xmlns:a="http://schemas.openxmlformats.org/drawingml/2006/main">
              <a:ext uri="{FF2B5EF4-FFF2-40B4-BE49-F238E27FC236}">
                <a16:creationId xmlns:a16="http://schemas.microsoft.com/office/drawing/2014/main" id="{B6131580-A4F8-4662-B580-C8C20FDB2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71950"/>
            <a:ext cx="8953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875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875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875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875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875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875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875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875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875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875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pPr>
            <a:r>
              <a:rPr sz="1875">
                <a:solidFill>
                  <a:srgbClr val="1D2A3A"/>
                </a:solidFill>
                <a:latin typeface="DejaVu Sans"/>
                <a:ea typeface="DejaVu Sans"/>
                <a:cs typeface="DejaVu Sans"/>
              </a:rPr>
              <a:t>A decisão de risco ocorre no dispositivo. A nuvem recebe dados já classificados e mantém a rastreabilidade pela sequência.</a:t>
            </a:r>
          </a:p>
        </p:txBody>
      </p:sp>
      <p:sp>
        <p:nvSpPr>
          <p:cNvPr id="24" name="footer-3">
            <a:extLst xmlns:a="http://schemas.openxmlformats.org/drawingml/2006/main">
              <a:ext uri="{FF2B5EF4-FFF2-40B4-BE49-F238E27FC236}">
                <a16:creationId xmlns:a16="http://schemas.microsoft.com/office/drawing/2014/main" id="{98ECBD57-84CA-4BD7-A4B9-20A1EE0A7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975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975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975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975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975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975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975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975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975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975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975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pPr>
            <a:r>
              <a:rPr sz="975">
                <a:solidFill>
                  <a:srgbClr val="68788D"/>
                </a:solidFill>
                <a:latin typeface="DejaVu Sans"/>
                <a:ea typeface="DejaVu Sans"/>
                <a:cs typeface="DejaVu Sans"/>
              </a:rPr>
              <a:t>CardioIA | FIAP | Fase 3</a:t>
            </a:r>
          </a:p>
        </p:txBody>
      </p:sp>
    </p:spTree>
    <p:extLst>
      <p:ext uri="{BB962C8B-B14F-4D97-AF65-F5344CB8AC3E}">
        <p14:creationId xmlns:p14="http://schemas.microsoft.com/office/powerpoint/2010/main" val="149752891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-4">
            <a:extLst xmlns:a="http://schemas.openxmlformats.org/drawingml/2006/main">
              <a:ext uri="{FF2B5EF4-FFF2-40B4-BE49-F238E27FC236}">
                <a16:creationId xmlns:a16="http://schemas.microsoft.com/office/drawing/2014/main" id="{6632E5DB-208C-4951-83F0-9D8578D45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952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3225" b="1">
                <a:solidFill>
                  <a:srgbClr val="08172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225" b="1">
                <a:solidFill>
                  <a:srgbClr val="08172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225" b="1">
                <a:solidFill>
                  <a:srgbClr val="08172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225" b="1">
                <a:solidFill>
                  <a:srgbClr val="08172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225" b="1">
                <a:solidFill>
                  <a:srgbClr val="08172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225" b="1">
                <a:solidFill>
                  <a:srgbClr val="08172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225" b="1">
                <a:solidFill>
                  <a:srgbClr val="08172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225" b="1">
                <a:solidFill>
                  <a:srgbClr val="08172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225" b="1">
                <a:solidFill>
                  <a:srgbClr val="08172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225" b="1">
                <a:solidFill>
                  <a:srgbClr val="0817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08172C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08172C"/>
                </a:solidFill>
                <a:latin typeface="DejaVu Sans"/>
                <a:ea typeface="DejaVu Sans"/>
                <a:cs typeface="DejaVu Sans"/>
              </a:rPr>
              <a:t>Circuito e sensores no Wokwi</a:t>
            </a:r>
          </a:p>
        </p:txBody>
      </p:sp>
      <p:sp>
        <p:nvSpPr>
          <p:cNvPr id="2" name="accent-4">
            <a:extLst xmlns:a="http://schemas.openxmlformats.org/drawingml/2006/main">
              <a:ext uri="{FF2B5EF4-FFF2-40B4-BE49-F238E27FC236}">
                <a16:creationId xmlns:a16="http://schemas.microsoft.com/office/drawing/2014/main" id="{EB4FE20B-CD01-4627-8755-41267098E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8191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-4">
            <a:extLst xmlns:a="http://schemas.openxmlformats.org/drawingml/2006/main">
              <a:ext uri="{FF2B5EF4-FFF2-40B4-BE49-F238E27FC236}">
                <a16:creationId xmlns:a16="http://schemas.microsoft.com/office/drawing/2014/main" id="{8ABFEAE0-B7AF-4983-9964-5D1825927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5720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r">
              <a:defRPr sz="1425" b="1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425" b="1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425" b="1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425" b="1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425" b="1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425" b="1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425" b="1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425" b="1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425" b="1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425" b="1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425" b="1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68788D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FA3335-2065-422A-B11B-05D2CAB2956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7de535397f4118"/>
          <a:stretch xmlns:a="http://schemas.openxmlformats.org/drawingml/2006/main"/>
        </p:blipFill>
        <p:spPr>
          <a:xfrm xmlns:a="http://schemas.openxmlformats.org/drawingml/2006/main">
            <a:off x="6191250" y="1718358"/>
            <a:ext cx="5314950" cy="3649885"/>
          </a:xfrm>
          <a:prstGeom xmlns:a="http://schemas.openxmlformats.org/drawingml/2006/main" prst="roundRect">
            <a:avLst>
              <a:gd name="adj" fmla="val 2703"/>
            </a:avLst>
          </a:prstGeom>
        </p:spPr>
      </p:pic>
      <p:sp>
        <p:nvSpPr>
          <p:cNvPr id="5" name="sensor-dht">
            <a:extLst xmlns:a="http://schemas.openxmlformats.org/drawingml/2006/main">
              <a:ext uri="{FF2B5EF4-FFF2-40B4-BE49-F238E27FC236}">
                <a16:creationId xmlns:a16="http://schemas.microsoft.com/office/drawing/2014/main" id="{53EBCE86-3F3F-409F-B2DE-CF08B4C43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2625" b="1">
                <a:solidFill>
                  <a:srgbClr val="0B78D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625" b="1">
                <a:solidFill>
                  <a:srgbClr val="0B78D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625" b="1">
                <a:solidFill>
                  <a:srgbClr val="0B78D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625" b="1">
                <a:solidFill>
                  <a:srgbClr val="0B78D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625" b="1">
                <a:solidFill>
                  <a:srgbClr val="0B78D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625" b="1">
                <a:solidFill>
                  <a:srgbClr val="0B78D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625" b="1">
                <a:solidFill>
                  <a:srgbClr val="0B78D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625" b="1">
                <a:solidFill>
                  <a:srgbClr val="0B78D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625" b="1">
                <a:solidFill>
                  <a:srgbClr val="0B78D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625" b="1">
                <a:solidFill>
                  <a:srgbClr val="0B78D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0B78D0"/>
                </a:solidFill>
                <a:latin typeface="DejaVu Sans"/>
                <a:ea typeface="DejaVu Sans"/>
                <a:cs typeface="DejaVu Sans"/>
              </a:defRPr>
            </a:pPr>
            <a:r>
              <a:rPr sz="2625" b="1">
                <a:solidFill>
                  <a:srgbClr val="0B78D0"/>
                </a:solidFill>
                <a:latin typeface="DejaVu Sans"/>
                <a:ea typeface="DejaVu Sans"/>
                <a:cs typeface="DejaVu Sans"/>
              </a:rPr>
              <a:t>DHT22</a:t>
            </a:r>
          </a:p>
        </p:txBody>
      </p:sp>
      <p:sp>
        <p:nvSpPr>
          <p:cNvPr id="6" name="sensor-dht-detail">
            <a:extLst xmlns:a="http://schemas.openxmlformats.org/drawingml/2006/main">
              <a:ext uri="{FF2B5EF4-FFF2-40B4-BE49-F238E27FC236}">
                <a16:creationId xmlns:a16="http://schemas.microsoft.com/office/drawing/2014/main" id="{DE7E59E4-7B80-4EA1-917C-3B22BFEC9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4095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1800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00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pPr>
            <a:r>
              <a:rPr sz="1800">
                <a:solidFill>
                  <a:srgbClr val="1D2A3A"/>
                </a:solidFill>
                <a:latin typeface="DejaVu Sans"/>
                <a:ea typeface="DejaVu Sans"/>
                <a:cs typeface="DejaVu Sans"/>
              </a:rPr>
              <a:t>Temperatura e umidade</a:t>
            </a:r>
          </a:p>
          <a:p xmlns:a="http://schemas.openxmlformats.org/drawingml/2006/main">
            <a:pPr>
              <a:defRPr sz="1800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pPr>
            <a:r>
              <a:rPr sz="1800">
                <a:solidFill>
                  <a:srgbClr val="1D2A3A"/>
                </a:solidFill>
                <a:latin typeface="DejaVu Sans"/>
                <a:ea typeface="DejaVu Sans"/>
                <a:cs typeface="DejaVu Sans"/>
              </a:rPr>
              <a:t>GPIO 15</a:t>
            </a:r>
          </a:p>
        </p:txBody>
      </p:sp>
      <p:sp>
        <p:nvSpPr>
          <p:cNvPr id="7" name="sensor-bpm">
            <a:extLst xmlns:a="http://schemas.openxmlformats.org/drawingml/2006/main">
              <a:ext uri="{FF2B5EF4-FFF2-40B4-BE49-F238E27FC236}">
                <a16:creationId xmlns:a16="http://schemas.microsoft.com/office/drawing/2014/main" id="{FA37611D-2D8E-4EF1-A06C-C86A995AB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19450"/>
            <a:ext cx="438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2625" b="1">
                <a:solidFill>
                  <a:srgbClr val="0B78D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625" b="1">
                <a:solidFill>
                  <a:srgbClr val="0B78D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625" b="1">
                <a:solidFill>
                  <a:srgbClr val="0B78D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625" b="1">
                <a:solidFill>
                  <a:srgbClr val="0B78D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625" b="1">
                <a:solidFill>
                  <a:srgbClr val="0B78D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625" b="1">
                <a:solidFill>
                  <a:srgbClr val="0B78D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625" b="1">
                <a:solidFill>
                  <a:srgbClr val="0B78D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625" b="1">
                <a:solidFill>
                  <a:srgbClr val="0B78D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625" b="1">
                <a:solidFill>
                  <a:srgbClr val="0B78D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625" b="1">
                <a:solidFill>
                  <a:srgbClr val="0B78D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0B78D0"/>
                </a:solidFill>
                <a:latin typeface="DejaVu Sans"/>
                <a:ea typeface="DejaVu Sans"/>
                <a:cs typeface="DejaVu Sans"/>
              </a:defRPr>
            </a:pPr>
            <a:r>
              <a:rPr sz="2625" b="1">
                <a:solidFill>
                  <a:srgbClr val="0B78D0"/>
                </a:solidFill>
                <a:latin typeface="DejaVu Sans"/>
                <a:ea typeface="DejaVu Sans"/>
                <a:cs typeface="DejaVu Sans"/>
              </a:rPr>
              <a:t>BPM sintético</a:t>
            </a:r>
          </a:p>
        </p:txBody>
      </p:sp>
      <p:sp>
        <p:nvSpPr>
          <p:cNvPr id="8" name="sensor-bpm-detail">
            <a:extLst xmlns:a="http://schemas.openxmlformats.org/drawingml/2006/main">
              <a:ext uri="{FF2B5EF4-FFF2-40B4-BE49-F238E27FC236}">
                <a16:creationId xmlns:a16="http://schemas.microsoft.com/office/drawing/2014/main" id="{DE6B5029-8AC3-4DBA-8550-C5B89B880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4476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1800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00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pPr>
            <a:r>
              <a:rPr sz="1800">
                <a:solidFill>
                  <a:srgbClr val="1D2A3A"/>
                </a:solidFill>
                <a:latin typeface="DejaVu Sans"/>
                <a:ea typeface="DejaVu Sans"/>
                <a:cs typeface="DejaVu Sans"/>
              </a:rPr>
              <a:t>Potenciômetro no GPIO 34</a:t>
            </a:r>
          </a:p>
          <a:p xmlns:a="http://schemas.openxmlformats.org/drawingml/2006/main">
            <a:pPr>
              <a:defRPr sz="1800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pPr>
            <a:r>
              <a:rPr sz="1800">
                <a:solidFill>
                  <a:srgbClr val="1D2A3A"/>
                </a:solidFill>
                <a:latin typeface="DejaVu Sans"/>
                <a:ea typeface="DejaVu Sans"/>
                <a:cs typeface="DejaVu Sans"/>
              </a:rPr>
              <a:t>Faixa de 40 a 180 BPM</a:t>
            </a:r>
          </a:p>
        </p:txBody>
      </p:sp>
      <p:sp>
        <p:nvSpPr>
          <p:cNvPr id="9" name="sensor-support">
            <a:extLst xmlns:a="http://schemas.openxmlformats.org/drawingml/2006/main">
              <a:ext uri="{FF2B5EF4-FFF2-40B4-BE49-F238E27FC236}">
                <a16:creationId xmlns:a16="http://schemas.microsoft.com/office/drawing/2014/main" id="{86D53B67-1F72-412D-B19D-605A27AED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1500" b="1">
                <a:solidFill>
                  <a:srgbClr val="159A72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00" b="1">
                <a:solidFill>
                  <a:srgbClr val="159A72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00" b="1">
                <a:solidFill>
                  <a:srgbClr val="159A72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00" b="1">
                <a:solidFill>
                  <a:srgbClr val="159A72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00" b="1">
                <a:solidFill>
                  <a:srgbClr val="159A72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00" b="1">
                <a:solidFill>
                  <a:srgbClr val="159A72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00" b="1">
                <a:solidFill>
                  <a:srgbClr val="159A72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00" b="1">
                <a:solidFill>
                  <a:srgbClr val="159A72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00" b="1">
                <a:solidFill>
                  <a:srgbClr val="159A72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00" b="1">
                <a:solidFill>
                  <a:srgbClr val="159A7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59A72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159A72"/>
                </a:solidFill>
                <a:latin typeface="DejaVu Sans"/>
                <a:ea typeface="DejaVu Sans"/>
                <a:cs typeface="DejaVu Sans"/>
              </a:rPr>
              <a:t>LED no GPIO 2 e botão offline no GPIO 4</a:t>
            </a:r>
          </a:p>
        </p:txBody>
      </p:sp>
      <p:sp>
        <p:nvSpPr>
          <p:cNvPr id="10" name="footer-4">
            <a:extLst xmlns:a="http://schemas.openxmlformats.org/drawingml/2006/main">
              <a:ext uri="{FF2B5EF4-FFF2-40B4-BE49-F238E27FC236}">
                <a16:creationId xmlns:a16="http://schemas.microsoft.com/office/drawing/2014/main" id="{47F90949-B7DD-4D80-A0C2-DCD5346E5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975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975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975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975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975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975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975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975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975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975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975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pPr>
            <a:r>
              <a:rPr sz="975">
                <a:solidFill>
                  <a:srgbClr val="68788D"/>
                </a:solidFill>
                <a:latin typeface="DejaVu Sans"/>
                <a:ea typeface="DejaVu Sans"/>
                <a:cs typeface="DejaVu Sans"/>
              </a:rPr>
              <a:t>Fonte: execução pública no Wokwi</a:t>
            </a:r>
          </a:p>
        </p:txBody>
      </p:sp>
    </p:spTree>
    <p:extLst>
      <p:ext uri="{BB962C8B-B14F-4D97-AF65-F5344CB8AC3E}">
        <p14:creationId xmlns:p14="http://schemas.microsoft.com/office/powerpoint/2010/main" val="145564407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-5">
            <a:extLst xmlns:a="http://schemas.openxmlformats.org/drawingml/2006/main">
              <a:ext uri="{FF2B5EF4-FFF2-40B4-BE49-F238E27FC236}">
                <a16:creationId xmlns:a16="http://schemas.microsoft.com/office/drawing/2014/main" id="{54E888EB-7DE7-4722-A521-B93729D27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952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3225" b="1">
                <a:solidFill>
                  <a:srgbClr val="08172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225" b="1">
                <a:solidFill>
                  <a:srgbClr val="08172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225" b="1">
                <a:solidFill>
                  <a:srgbClr val="08172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225" b="1">
                <a:solidFill>
                  <a:srgbClr val="08172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225" b="1">
                <a:solidFill>
                  <a:srgbClr val="08172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225" b="1">
                <a:solidFill>
                  <a:srgbClr val="08172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225" b="1">
                <a:solidFill>
                  <a:srgbClr val="08172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225" b="1">
                <a:solidFill>
                  <a:srgbClr val="08172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225" b="1">
                <a:solidFill>
                  <a:srgbClr val="08172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225" b="1">
                <a:solidFill>
                  <a:srgbClr val="0817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08172C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08172C"/>
                </a:solidFill>
                <a:latin typeface="DejaVu Sans"/>
                <a:ea typeface="DejaVu Sans"/>
                <a:cs typeface="DejaVu Sans"/>
              </a:rPr>
              <a:t>Resiliência offline no Edge</a:t>
            </a:r>
          </a:p>
        </p:txBody>
      </p:sp>
      <p:sp>
        <p:nvSpPr>
          <p:cNvPr id="2" name="accent-5">
            <a:extLst xmlns:a="http://schemas.openxmlformats.org/drawingml/2006/main">
              <a:ext uri="{FF2B5EF4-FFF2-40B4-BE49-F238E27FC236}">
                <a16:creationId xmlns:a16="http://schemas.microsoft.com/office/drawing/2014/main" id="{EDC81C46-9E18-4475-87AE-F3245803F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8191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-5">
            <a:extLst xmlns:a="http://schemas.openxmlformats.org/drawingml/2006/main">
              <a:ext uri="{FF2B5EF4-FFF2-40B4-BE49-F238E27FC236}">
                <a16:creationId xmlns:a16="http://schemas.microsoft.com/office/drawing/2014/main" id="{3806547A-004B-425E-96DE-8412C24FC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5720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r">
              <a:defRPr sz="1425" b="1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425" b="1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425" b="1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425" b="1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425" b="1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425" b="1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425" b="1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425" b="1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425" b="1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425" b="1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425" b="1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68788D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BE19E3-8627-45B8-A409-F060DFBDFF3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f4fa4717cf43ba"/>
          <a:stretch xmlns:a="http://schemas.openxmlformats.org/drawingml/2006/main"/>
        </p:blipFill>
        <p:spPr>
          <a:xfrm xmlns:a="http://schemas.openxmlformats.org/drawingml/2006/main">
            <a:off x="685800" y="1575434"/>
            <a:ext cx="5953125" cy="4088133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5" name="edge-capacity">
            <a:extLst xmlns:a="http://schemas.openxmlformats.org/drawingml/2006/main">
              <a:ext uri="{FF2B5EF4-FFF2-40B4-BE49-F238E27FC236}">
                <a16:creationId xmlns:a16="http://schemas.microsoft.com/office/drawing/2014/main" id="{230767A1-27DE-4A91-98B9-2B19A17AF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657350"/>
            <a:ext cx="3714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3300" b="1">
                <a:solidFill>
                  <a:srgbClr val="08172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1">
                <a:solidFill>
                  <a:srgbClr val="08172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1">
                <a:solidFill>
                  <a:srgbClr val="08172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1">
                <a:solidFill>
                  <a:srgbClr val="08172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1">
                <a:solidFill>
                  <a:srgbClr val="08172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1">
                <a:solidFill>
                  <a:srgbClr val="08172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1">
                <a:solidFill>
                  <a:srgbClr val="08172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1">
                <a:solidFill>
                  <a:srgbClr val="08172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1">
                <a:solidFill>
                  <a:srgbClr val="08172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1">
                <a:solidFill>
                  <a:srgbClr val="0817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08172C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08172C"/>
                </a:solidFill>
                <a:latin typeface="DejaVu Sans"/>
                <a:ea typeface="DejaVu Sans"/>
                <a:cs typeface="DejaVu Sans"/>
              </a:rPr>
              <a:t>2.160 amostras</a:t>
            </a:r>
          </a:p>
        </p:txBody>
      </p:sp>
      <p:sp>
        <p:nvSpPr>
          <p:cNvPr id="6" name="edge-capacity-detail">
            <a:extLst xmlns:a="http://schemas.openxmlformats.org/drawingml/2006/main">
              <a:ext uri="{FF2B5EF4-FFF2-40B4-BE49-F238E27FC236}">
                <a16:creationId xmlns:a16="http://schemas.microsoft.com/office/drawing/2014/main" id="{1978D8E9-BA41-46F3-A4A0-DC406AA3D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305050"/>
            <a:ext cx="371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1725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725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725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725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725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725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725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725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725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725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725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pPr>
            <a:r>
              <a:rPr sz="1725">
                <a:solidFill>
                  <a:srgbClr val="1D2A3A"/>
                </a:solidFill>
                <a:latin typeface="DejaVu Sans"/>
                <a:ea typeface="DejaVu Sans"/>
                <a:cs typeface="DejaVu Sans"/>
              </a:rPr>
              <a:t>Três horas a uma leitura a cada cinco segundos</a:t>
            </a:r>
          </a:p>
        </p:txBody>
      </p:sp>
      <p:sp>
        <p:nvSpPr>
          <p:cNvPr id="7" name="edge-list">
            <a:extLst xmlns:a="http://schemas.openxmlformats.org/drawingml/2006/main">
              <a:ext uri="{FF2B5EF4-FFF2-40B4-BE49-F238E27FC236}">
                <a16:creationId xmlns:a16="http://schemas.microsoft.com/office/drawing/2014/main" id="{6DDA56E5-C289-45EA-A928-F025750DD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238500"/>
            <a:ext cx="3857625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4" indent="-12">
              <a:spcAft>
                <a:spcPts val="12"/>
              </a:spcAft>
              <a:buChar char="•"/>
            </a:pPr>
            <a:r>
              <a:rPr sz="1575">
                <a:solidFill>
                  <a:srgbClr val="1D2A3A"/>
                </a:solidFill>
                <a:latin typeface="DejaVu Sans"/>
                <a:ea typeface="DejaVu Sans"/>
                <a:cs typeface="DejaVu Sans"/>
              </a:rPr>
              <a:t>FIFO preserva a ordem</a:t>
            </a:r>
          </a:p>
          <a:p xmlns:a="http://schemas.openxmlformats.org/drawingml/2006/main">
            <a:pPr marL="24" indent="-12">
              <a:spcAft>
                <a:spcPts val="12"/>
              </a:spcAft>
              <a:buChar char="•"/>
            </a:pPr>
            <a:r>
              <a:rPr sz="1575">
                <a:solidFill>
                  <a:srgbClr val="1D2A3A"/>
                </a:solidFill>
                <a:latin typeface="DejaVu Sans"/>
                <a:ea typeface="DejaVu Sans"/>
                <a:cs typeface="DejaVu Sans"/>
              </a:rPr>
              <a:t>Amostras recentes substituem as mais antigas somente se a capacidade esgotar</a:t>
            </a:r>
          </a:p>
          <a:p xmlns:a="http://schemas.openxmlformats.org/drawingml/2006/main">
            <a:pPr marL="24" indent="-12">
              <a:spcAft>
                <a:spcPts val="12"/>
              </a:spcAft>
              <a:buChar char="•"/>
            </a:pPr>
            <a:r>
              <a:rPr sz="1575">
                <a:solidFill>
                  <a:srgbClr val="1D2A3A"/>
                </a:solidFill>
                <a:latin typeface="DejaVu Sans"/>
                <a:ea typeface="DejaVu Sans"/>
                <a:cs typeface="DejaVu Sans"/>
              </a:rPr>
              <a:t>Contador expõe qualquer descarte</a:t>
            </a:r>
          </a:p>
          <a:p xmlns:a="http://schemas.openxmlformats.org/drawingml/2006/main">
            <a:pPr marL="24" indent="-12">
              <a:spcAft>
                <a:spcPts val="12"/>
              </a:spcAft>
              <a:buChar char="•"/>
            </a:pPr>
            <a:r>
              <a:rPr sz="1575">
                <a:solidFill>
                  <a:srgbClr val="1D2A3A"/>
                </a:solidFill>
                <a:latin typeface="DejaVu Sans"/>
                <a:ea typeface="DejaVu Sans"/>
                <a:cs typeface="DejaVu Sans"/>
              </a:rPr>
              <a:t>Sincronização termina apenas com fila zero</a:t>
            </a:r>
          </a:p>
        </p:txBody>
      </p:sp>
      <p:sp>
        <p:nvSpPr>
          <p:cNvPr id="8" name="footer-5">
            <a:extLst xmlns:a="http://schemas.openxmlformats.org/drawingml/2006/main">
              <a:ext uri="{FF2B5EF4-FFF2-40B4-BE49-F238E27FC236}">
                <a16:creationId xmlns:a16="http://schemas.microsoft.com/office/drawing/2014/main" id="{C3155D9A-0E1C-4C7B-850C-A16A67626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975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975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975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975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975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975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975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975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975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975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975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pPr>
            <a:r>
              <a:rPr sz="975">
                <a:solidFill>
                  <a:srgbClr val="68788D"/>
                </a:solidFill>
                <a:latin typeface="DejaVu Sans"/>
                <a:ea typeface="DejaVu Sans"/>
                <a:cs typeface="DejaVu Sans"/>
              </a:rPr>
              <a:t>Evidência: execução A da Etapa 6</a:t>
            </a:r>
          </a:p>
        </p:txBody>
      </p:sp>
    </p:spTree>
    <p:extLst>
      <p:ext uri="{BB962C8B-B14F-4D97-AF65-F5344CB8AC3E}">
        <p14:creationId xmlns:p14="http://schemas.microsoft.com/office/powerpoint/2010/main" val="140224914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-6">
            <a:extLst xmlns:a="http://schemas.openxmlformats.org/drawingml/2006/main">
              <a:ext uri="{FF2B5EF4-FFF2-40B4-BE49-F238E27FC236}">
                <a16:creationId xmlns:a16="http://schemas.microsoft.com/office/drawing/2014/main" id="{2E07FDC0-C713-4568-9A2D-D34128F77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952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3225" b="1">
                <a:solidFill>
                  <a:srgbClr val="08172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225" b="1">
                <a:solidFill>
                  <a:srgbClr val="08172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225" b="1">
                <a:solidFill>
                  <a:srgbClr val="08172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225" b="1">
                <a:solidFill>
                  <a:srgbClr val="08172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225" b="1">
                <a:solidFill>
                  <a:srgbClr val="08172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225" b="1">
                <a:solidFill>
                  <a:srgbClr val="08172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225" b="1">
                <a:solidFill>
                  <a:srgbClr val="08172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225" b="1">
                <a:solidFill>
                  <a:srgbClr val="08172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225" b="1">
                <a:solidFill>
                  <a:srgbClr val="08172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225" b="1">
                <a:solidFill>
                  <a:srgbClr val="0817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08172C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08172C"/>
                </a:solidFill>
                <a:latin typeface="DejaVu Sans"/>
                <a:ea typeface="DejaVu Sans"/>
                <a:cs typeface="DejaVu Sans"/>
              </a:rPr>
              <a:t>MQTT e comprovação externa</a:t>
            </a:r>
          </a:p>
        </p:txBody>
      </p:sp>
      <p:sp>
        <p:nvSpPr>
          <p:cNvPr id="2" name="accent-6">
            <a:extLst xmlns:a="http://schemas.openxmlformats.org/drawingml/2006/main">
              <a:ext uri="{FF2B5EF4-FFF2-40B4-BE49-F238E27FC236}">
                <a16:creationId xmlns:a16="http://schemas.microsoft.com/office/drawing/2014/main" id="{444CFBAB-8C43-4DE6-9E9A-BA9F696E0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8191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-6">
            <a:extLst xmlns:a="http://schemas.openxmlformats.org/drawingml/2006/main">
              <a:ext uri="{FF2B5EF4-FFF2-40B4-BE49-F238E27FC236}">
                <a16:creationId xmlns:a16="http://schemas.microsoft.com/office/drawing/2014/main" id="{14B082E1-D184-499D-8158-AF1337284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5720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r">
              <a:defRPr sz="1425" b="1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425" b="1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425" b="1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425" b="1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425" b="1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425" b="1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425" b="1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425" b="1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425" b="1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425" b="1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425" b="1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68788D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FD6EAA-03C2-4DCD-AFEE-603709E8089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f9e3782596422a"/>
          <a:stretch xmlns:a="http://schemas.openxmlformats.org/drawingml/2006/main"/>
        </p:blipFill>
        <p:spPr>
          <a:xfrm xmlns:a="http://schemas.openxmlformats.org/drawingml/2006/main">
            <a:off x="6381750" y="1745096"/>
            <a:ext cx="5124450" cy="3520208"/>
          </a:xfrm>
          <a:prstGeom xmlns:a="http://schemas.openxmlformats.org/drawingml/2006/main" prst="roundRect">
            <a:avLst>
              <a:gd name="adj" fmla="val 2830"/>
            </a:avLst>
          </a:prstGeom>
        </p:spPr>
      </p:pic>
      <p:sp>
        <p:nvSpPr>
          <p:cNvPr id="5" name="mqtt-host">
            <a:extLst xmlns:a="http://schemas.openxmlformats.org/drawingml/2006/main">
              <a:ext uri="{FF2B5EF4-FFF2-40B4-BE49-F238E27FC236}">
                <a16:creationId xmlns:a16="http://schemas.microsoft.com/office/drawing/2014/main" id="{29F37AE7-68C5-4BCC-B2C2-122640474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2325" b="1">
                <a:solidFill>
                  <a:srgbClr val="08172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325" b="1">
                <a:solidFill>
                  <a:srgbClr val="08172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325" b="1">
                <a:solidFill>
                  <a:srgbClr val="08172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325" b="1">
                <a:solidFill>
                  <a:srgbClr val="08172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325" b="1">
                <a:solidFill>
                  <a:srgbClr val="08172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325" b="1">
                <a:solidFill>
                  <a:srgbClr val="08172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325" b="1">
                <a:solidFill>
                  <a:srgbClr val="08172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325" b="1">
                <a:solidFill>
                  <a:srgbClr val="08172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325" b="1">
                <a:solidFill>
                  <a:srgbClr val="08172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325" b="1">
                <a:solidFill>
                  <a:srgbClr val="0817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08172C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08172C"/>
                </a:solidFill>
                <a:latin typeface="DejaVu Sans"/>
                <a:ea typeface="DejaVu Sans"/>
                <a:cs typeface="DejaVu Sans"/>
              </a:rPr>
              <a:t>broker.hivemq.com:1883</a:t>
            </a:r>
          </a:p>
        </p:txBody>
      </p:sp>
      <p:sp>
        <p:nvSpPr>
          <p:cNvPr id="6" name="mqtt-contract">
            <a:extLst xmlns:a="http://schemas.openxmlformats.org/drawingml/2006/main">
              <a:ext uri="{FF2B5EF4-FFF2-40B4-BE49-F238E27FC236}">
                <a16:creationId xmlns:a16="http://schemas.microsoft.com/office/drawing/2014/main" id="{E5F0ABAF-A442-4365-AAA3-951A6C554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2100" b="1">
                <a:solidFill>
                  <a:srgbClr val="0B78D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1">
                <a:solidFill>
                  <a:srgbClr val="0B78D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1">
                <a:solidFill>
                  <a:srgbClr val="0B78D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1">
                <a:solidFill>
                  <a:srgbClr val="0B78D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1">
                <a:solidFill>
                  <a:srgbClr val="0B78D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1">
                <a:solidFill>
                  <a:srgbClr val="0B78D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1">
                <a:solidFill>
                  <a:srgbClr val="0B78D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1">
                <a:solidFill>
                  <a:srgbClr val="0B78D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1">
                <a:solidFill>
                  <a:srgbClr val="0B78D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1">
                <a:solidFill>
                  <a:srgbClr val="0B78D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B78D0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0B78D0"/>
                </a:solidFill>
                <a:latin typeface="DejaVu Sans"/>
                <a:ea typeface="DejaVu Sans"/>
                <a:cs typeface="DejaVu Sans"/>
              </a:rPr>
              <a:t>Contrato JSON v1</a:t>
            </a:r>
          </a:p>
        </p:txBody>
      </p:sp>
      <p:sp>
        <p:nvSpPr>
          <p:cNvPr id="7" name="mqtt-fields">
            <a:extLst xmlns:a="http://schemas.openxmlformats.org/drawingml/2006/main">
              <a:ext uri="{FF2B5EF4-FFF2-40B4-BE49-F238E27FC236}">
                <a16:creationId xmlns:a16="http://schemas.microsoft.com/office/drawing/2014/main" id="{D06213D7-D65B-4AF8-8752-88904AA31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4857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4" indent="-12">
              <a:spcAft>
                <a:spcPts val="12"/>
              </a:spcAft>
              <a:buChar char="•"/>
            </a:pPr>
            <a:r>
              <a:rPr sz="1575">
                <a:solidFill>
                  <a:srgbClr val="1D2A3A"/>
                </a:solidFill>
                <a:latin typeface="DejaVu Sans"/>
                <a:ea typeface="DejaVu Sans"/>
                <a:cs typeface="DejaVu Sans"/>
              </a:rPr>
              <a:t>13 campos validados</a:t>
            </a:r>
          </a:p>
          <a:p xmlns:a="http://schemas.openxmlformats.org/drawingml/2006/main">
            <a:pPr marL="24" indent="-12">
              <a:spcAft>
                <a:spcPts val="12"/>
              </a:spcAft>
              <a:buChar char="•"/>
            </a:pPr>
            <a:r>
              <a:rPr sz="1575">
                <a:solidFill>
                  <a:srgbClr val="1D2A3A"/>
                </a:solidFill>
                <a:latin typeface="DejaVu Sans"/>
                <a:ea typeface="DejaVu Sans"/>
                <a:cs typeface="DejaVu Sans"/>
              </a:rPr>
              <a:t>Tópicos separados para telemetria, alerta e status</a:t>
            </a:r>
          </a:p>
          <a:p xmlns:a="http://schemas.openxmlformats.org/drawingml/2006/main">
            <a:pPr marL="24" indent="-12">
              <a:spcAft>
                <a:spcPts val="12"/>
              </a:spcAft>
              <a:buChar char="•"/>
            </a:pPr>
            <a:r>
              <a:rPr sz="1575">
                <a:solidFill>
                  <a:srgbClr val="1D2A3A"/>
                </a:solidFill>
                <a:latin typeface="DejaVu Sans"/>
                <a:ea typeface="DejaVu Sans"/>
                <a:cs typeface="DejaVu Sans"/>
              </a:rPr>
              <a:t>Status retido e Last Will</a:t>
            </a:r>
          </a:p>
          <a:p xmlns:a="http://schemas.openxmlformats.org/drawingml/2006/main">
            <a:pPr marL="24" indent="-12">
              <a:spcAft>
                <a:spcPts val="12"/>
              </a:spcAft>
              <a:buChar char="•"/>
            </a:pPr>
            <a:r>
              <a:rPr sz="1575">
                <a:solidFill>
                  <a:srgbClr val="1D2A3A"/>
                </a:solidFill>
                <a:latin typeface="DejaVu Sans"/>
                <a:ea typeface="DejaVu Sans"/>
                <a:cs typeface="DejaVu Sans"/>
              </a:rPr>
              <a:t>Sequência correlaciona cada amostra</a:t>
            </a:r>
          </a:p>
        </p:txBody>
      </p:sp>
      <p:sp>
        <p:nvSpPr>
          <p:cNvPr id="8" name="mqtt-caveat">
            <a:extLst xmlns:a="http://schemas.openxmlformats.org/drawingml/2006/main">
              <a:ext uri="{FF2B5EF4-FFF2-40B4-BE49-F238E27FC236}">
                <a16:creationId xmlns:a16="http://schemas.microsoft.com/office/drawing/2014/main" id="{242A7B5D-5F36-41FE-9CD8-C410B0DE5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62575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1500" b="1">
                <a:solidFill>
                  <a:srgbClr val="159A72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00" b="1">
                <a:solidFill>
                  <a:srgbClr val="159A72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00" b="1">
                <a:solidFill>
                  <a:srgbClr val="159A72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00" b="1">
                <a:solidFill>
                  <a:srgbClr val="159A72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00" b="1">
                <a:solidFill>
                  <a:srgbClr val="159A72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00" b="1">
                <a:solidFill>
                  <a:srgbClr val="159A72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00" b="1">
                <a:solidFill>
                  <a:srgbClr val="159A72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00" b="1">
                <a:solidFill>
                  <a:srgbClr val="159A72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00" b="1">
                <a:solidFill>
                  <a:srgbClr val="159A72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00" b="1">
                <a:solidFill>
                  <a:srgbClr val="159A7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59A72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159A72"/>
                </a:solidFill>
                <a:latin typeface="DejaVu Sans"/>
                <a:ea typeface="DejaVu Sans"/>
                <a:cs typeface="DejaVu Sans"/>
              </a:rPr>
              <a:t>O retorno de publish() não bastou. Um assinante separado confirmou o recebimento pelo broker.</a:t>
            </a:r>
          </a:p>
        </p:txBody>
      </p:sp>
      <p:sp>
        <p:nvSpPr>
          <p:cNvPr id="9" name="footer-6">
            <a:extLst xmlns:a="http://schemas.openxmlformats.org/drawingml/2006/main">
              <a:ext uri="{FF2B5EF4-FFF2-40B4-BE49-F238E27FC236}">
                <a16:creationId xmlns:a16="http://schemas.microsoft.com/office/drawing/2014/main" id="{DC5B2C58-7DE1-4FA9-AE4F-3B6772D7E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975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975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975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975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975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975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975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975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975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975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975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pPr>
            <a:r>
              <a:rPr sz="975">
                <a:solidFill>
                  <a:srgbClr val="68788D"/>
                </a:solidFill>
                <a:latin typeface="DejaVu Sans"/>
                <a:ea typeface="DejaVu Sans"/>
                <a:cs typeface="DejaVu Sans"/>
              </a:rPr>
              <a:t>Broker público usado somente com dados sintéticos</a:t>
            </a:r>
          </a:p>
        </p:txBody>
      </p:sp>
    </p:spTree>
    <p:extLst>
      <p:ext uri="{BB962C8B-B14F-4D97-AF65-F5344CB8AC3E}">
        <p14:creationId xmlns:p14="http://schemas.microsoft.com/office/powerpoint/2010/main" val="173818259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817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E05ECD-74CC-4F90-9A46-5247A0CB2A6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e4b470bdf44e04"/>
          <a:stretch xmlns:a="http://schemas.openxmlformats.org/drawingml/2006/main"/>
        </p:blipFill>
        <p:spPr>
          <a:xfrm xmlns:a="http://schemas.openxmlformats.org/drawingml/2006/main">
            <a:off x="3910126" y="1066800"/>
            <a:ext cx="7210199" cy="4953000"/>
          </a:xfrm>
          <a:prstGeom xmlns:a="http://schemas.openxmlformats.org/drawingml/2006/main" prst="roundRect">
            <a:avLst>
              <a:gd name="adj" fmla="val 2308"/>
            </a:avLst>
          </a:prstGeom>
        </p:spPr>
      </p:pic>
      <p:sp>
        <p:nvSpPr>
          <p:cNvPr id="2" name="dashboard-title">
            <a:extLst xmlns:a="http://schemas.openxmlformats.org/drawingml/2006/main">
              <a:ext uri="{FF2B5EF4-FFF2-40B4-BE49-F238E27FC236}">
                <a16:creationId xmlns:a16="http://schemas.microsoft.com/office/drawing/2014/main" id="{689D49B6-4E7E-43CE-9EC6-028B32AFF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27146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Dashboard ao vivo</a:t>
            </a:r>
          </a:p>
        </p:txBody>
      </p:sp>
      <p:sp>
        <p:nvSpPr>
          <p:cNvPr id="3" name="dashboard-copy">
            <a:extLst xmlns:a="http://schemas.openxmlformats.org/drawingml/2006/main">
              <a:ext uri="{FF2B5EF4-FFF2-40B4-BE49-F238E27FC236}">
                <a16:creationId xmlns:a16="http://schemas.microsoft.com/office/drawing/2014/main" id="{BCF91F64-1181-45D1-9ECE-CDC43EB52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90750"/>
            <a:ext cx="2619375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1725">
                <a:solidFill>
                  <a:srgbClr val="DCE8F2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725">
                <a:solidFill>
                  <a:srgbClr val="DCE8F2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725">
                <a:solidFill>
                  <a:srgbClr val="DCE8F2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725">
                <a:solidFill>
                  <a:srgbClr val="DCE8F2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725">
                <a:solidFill>
                  <a:srgbClr val="DCE8F2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725">
                <a:solidFill>
                  <a:srgbClr val="DCE8F2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725">
                <a:solidFill>
                  <a:srgbClr val="DCE8F2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725">
                <a:solidFill>
                  <a:srgbClr val="DCE8F2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725">
                <a:solidFill>
                  <a:srgbClr val="DCE8F2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725">
                <a:solidFill>
                  <a:srgbClr val="DCE8F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725">
                <a:solidFill>
                  <a:srgbClr val="DCE8F2"/>
                </a:solidFill>
                <a:latin typeface="DejaVu Sans"/>
                <a:ea typeface="DejaVu Sans"/>
                <a:cs typeface="DejaVu Sans"/>
              </a:defRPr>
            </a:pPr>
            <a:r>
              <a:rPr sz="1725">
                <a:solidFill>
                  <a:srgbClr val="DCE8F2"/>
                </a:solidFill>
                <a:latin typeface="DejaVu Sans"/>
                <a:ea typeface="DejaVu Sans"/>
                <a:cs typeface="DejaVu Sans"/>
              </a:rPr>
              <a:t>Gráfico de BPM</a:t>
            </a:r>
          </a:p>
          <a:p xmlns:a="http://schemas.openxmlformats.org/drawingml/2006/main">
            <a:pPr>
              <a:defRPr sz="1725">
                <a:solidFill>
                  <a:srgbClr val="DCE8F2"/>
                </a:solidFill>
                <a:latin typeface="DejaVu Sans"/>
                <a:ea typeface="DejaVu Sans"/>
                <a:cs typeface="DejaVu Sans"/>
              </a:defRPr>
            </a:pPr>
            <a:r>
              <a:rPr sz="1725">
                <a:solidFill>
                  <a:srgbClr val="DCE8F2"/>
                </a:solidFill>
                <a:latin typeface="DejaVu Sans"/>
                <a:ea typeface="DejaVu Sans"/>
                <a:cs typeface="DejaVu Sans"/>
              </a:rPr>
              <a:t>Gauge de temperatura</a:t>
            </a:r>
          </a:p>
          <a:p xmlns:a="http://schemas.openxmlformats.org/drawingml/2006/main">
            <a:pPr>
              <a:defRPr sz="1725">
                <a:solidFill>
                  <a:srgbClr val="DCE8F2"/>
                </a:solidFill>
                <a:latin typeface="DejaVu Sans"/>
                <a:ea typeface="DejaVu Sans"/>
                <a:cs typeface="DejaVu Sans"/>
              </a:defRPr>
            </a:pPr>
            <a:r>
              <a:rPr sz="1725">
                <a:solidFill>
                  <a:srgbClr val="DCE8F2"/>
                </a:solidFill>
                <a:latin typeface="DejaVu Sans"/>
                <a:ea typeface="DejaVu Sans"/>
                <a:cs typeface="DejaVu Sans"/>
              </a:rPr>
              <a:t>Gauge de umidade</a:t>
            </a:r>
          </a:p>
          <a:p xmlns:a="http://schemas.openxmlformats.org/drawingml/2006/main">
            <a:pPr>
              <a:defRPr sz="1725">
                <a:solidFill>
                  <a:srgbClr val="DCE8F2"/>
                </a:solidFill>
                <a:latin typeface="DejaVu Sans"/>
                <a:ea typeface="DejaVu Sans"/>
                <a:cs typeface="DejaVu Sans"/>
              </a:defRPr>
            </a:pPr>
            <a:r>
              <a:rPr sz="1725">
                <a:solidFill>
                  <a:srgbClr val="DCE8F2"/>
                </a:solidFill>
                <a:latin typeface="DejaVu Sans"/>
                <a:ea typeface="DejaVu Sans"/>
                <a:cs typeface="DejaVu Sans"/>
              </a:rPr>
              <a:t>Estado e alerta</a:t>
            </a:r>
          </a:p>
          <a:p xmlns:a="http://schemas.openxmlformats.org/drawingml/2006/main">
            <a:pPr>
              <a:defRPr sz="1725">
                <a:solidFill>
                  <a:srgbClr val="DCE8F2"/>
                </a:solidFill>
                <a:latin typeface="DejaVu Sans"/>
                <a:ea typeface="DejaVu Sans"/>
                <a:cs typeface="DejaVu Sans"/>
              </a:defRPr>
            </a:pPr>
            <a:r>
              <a:rPr sz="1725">
                <a:solidFill>
                  <a:srgbClr val="DCE8F2"/>
                </a:solidFill>
                <a:latin typeface="DejaVu Sans"/>
                <a:ea typeface="DejaVu Sans"/>
                <a:cs typeface="DejaVu Sans"/>
              </a:rPr>
              <a:t>Sequência, origem e fila</a:t>
            </a:r>
          </a:p>
        </p:txBody>
      </p:sp>
      <p:sp>
        <p:nvSpPr>
          <p:cNvPr id="4" name="dashboard-url">
            <a:extLst xmlns:a="http://schemas.openxmlformats.org/drawingml/2006/main">
              <a:ext uri="{FF2B5EF4-FFF2-40B4-BE49-F238E27FC236}">
                <a16:creationId xmlns:a16="http://schemas.microsoft.com/office/drawing/2014/main" id="{DA756470-309A-4CF1-A008-684B1BFA8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8637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1350" b="1">
                <a:solidFill>
                  <a:srgbClr val="00A6C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1">
                <a:solidFill>
                  <a:srgbClr val="00A6C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1">
                <a:solidFill>
                  <a:srgbClr val="00A6C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1">
                <a:solidFill>
                  <a:srgbClr val="00A6C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1">
                <a:solidFill>
                  <a:srgbClr val="00A6C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1">
                <a:solidFill>
                  <a:srgbClr val="00A6C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1">
                <a:solidFill>
                  <a:srgbClr val="00A6C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1">
                <a:solidFill>
                  <a:srgbClr val="00A6C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1">
                <a:solidFill>
                  <a:srgbClr val="00A6C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1">
                <a:solidFill>
                  <a:srgbClr val="00A6C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0A6C8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0A6C8"/>
                </a:solidFill>
                <a:latin typeface="DejaVu Sans"/>
                <a:ea typeface="DejaVu Sans"/>
                <a:cs typeface="DejaVu Sans"/>
              </a:rPr>
              <a:t>Acesso público no Render</a:t>
            </a:r>
          </a:p>
        </p:txBody>
      </p:sp>
    </p:spTree>
    <p:extLst>
      <p:ext uri="{BB962C8B-B14F-4D97-AF65-F5344CB8AC3E}">
        <p14:creationId xmlns:p14="http://schemas.microsoft.com/office/powerpoint/2010/main" val="187341714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-8">
            <a:extLst xmlns:a="http://schemas.openxmlformats.org/drawingml/2006/main">
              <a:ext uri="{FF2B5EF4-FFF2-40B4-BE49-F238E27FC236}">
                <a16:creationId xmlns:a16="http://schemas.microsoft.com/office/drawing/2014/main" id="{43FBB8A0-D858-44C3-B3CA-F459E77B1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952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3225" b="1">
                <a:solidFill>
                  <a:srgbClr val="08172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225" b="1">
                <a:solidFill>
                  <a:srgbClr val="08172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225" b="1">
                <a:solidFill>
                  <a:srgbClr val="08172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225" b="1">
                <a:solidFill>
                  <a:srgbClr val="08172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225" b="1">
                <a:solidFill>
                  <a:srgbClr val="08172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225" b="1">
                <a:solidFill>
                  <a:srgbClr val="08172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225" b="1">
                <a:solidFill>
                  <a:srgbClr val="08172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225" b="1">
                <a:solidFill>
                  <a:srgbClr val="08172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225" b="1">
                <a:solidFill>
                  <a:srgbClr val="08172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225" b="1">
                <a:solidFill>
                  <a:srgbClr val="0817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08172C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08172C"/>
                </a:solidFill>
                <a:latin typeface="DejaVu Sans"/>
                <a:ea typeface="DejaVu Sans"/>
                <a:cs typeface="DejaVu Sans"/>
              </a:rPr>
              <a:t>Alertas e recuperação sem reinício</a:t>
            </a:r>
          </a:p>
        </p:txBody>
      </p:sp>
      <p:sp>
        <p:nvSpPr>
          <p:cNvPr id="2" name="accent-8">
            <a:extLst xmlns:a="http://schemas.openxmlformats.org/drawingml/2006/main">
              <a:ext uri="{FF2B5EF4-FFF2-40B4-BE49-F238E27FC236}">
                <a16:creationId xmlns:a16="http://schemas.microsoft.com/office/drawing/2014/main" id="{99DE8F30-7109-4B4E-B61C-F27880740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8191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-8">
            <a:extLst xmlns:a="http://schemas.openxmlformats.org/drawingml/2006/main">
              <a:ext uri="{FF2B5EF4-FFF2-40B4-BE49-F238E27FC236}">
                <a16:creationId xmlns:a16="http://schemas.microsoft.com/office/drawing/2014/main" id="{B64BCB14-0427-4D5E-8E02-A395A078F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5720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r">
              <a:defRPr sz="1425" b="1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425" b="1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425" b="1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425" b="1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425" b="1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425" b="1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425" b="1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425" b="1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425" b="1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425" b="1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425" b="1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68788D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  <p:sp>
        <p:nvSpPr>
          <p:cNvPr id="4" name="alert-label-0">
            <a:extLst xmlns:a="http://schemas.openxmlformats.org/drawingml/2006/main">
              <a:ext uri="{FF2B5EF4-FFF2-40B4-BE49-F238E27FC236}">
                <a16:creationId xmlns:a16="http://schemas.microsoft.com/office/drawing/2014/main" id="{AEA10B5D-F25A-45A8-9116-C14300400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800" b="1">
                <a:solidFill>
                  <a:srgbClr val="C63C3C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800" b="1">
                <a:solidFill>
                  <a:srgbClr val="C63C3C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800" b="1">
                <a:solidFill>
                  <a:srgbClr val="C63C3C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800" b="1">
                <a:solidFill>
                  <a:srgbClr val="C63C3C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800" b="1">
                <a:solidFill>
                  <a:srgbClr val="C63C3C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800" b="1">
                <a:solidFill>
                  <a:srgbClr val="C63C3C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800" b="1">
                <a:solidFill>
                  <a:srgbClr val="C63C3C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800" b="1">
                <a:solidFill>
                  <a:srgbClr val="C63C3C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800" b="1">
                <a:solidFill>
                  <a:srgbClr val="C63C3C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800" b="1">
                <a:solidFill>
                  <a:srgbClr val="C63C3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C63C3C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C63C3C"/>
                </a:solidFill>
                <a:latin typeface="DejaVu Sans"/>
                <a:ea typeface="DejaVu Sans"/>
                <a:cs typeface="DejaVu Sans"/>
              </a:rPr>
              <a:t>BPM ALTO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518F17-68BF-412A-B37E-7C106B86170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a0c576201a4ff9"/>
          <a:srcRect xmlns:a="http://schemas.openxmlformats.org/drawingml/2006/main" l="8783" t="0" r="878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952625"/>
            <a:ext cx="3429000" cy="2857500"/>
          </a:xfrm>
          <a:prstGeom xmlns:a="http://schemas.openxmlformats.org/drawingml/2006/main" prst="roundRect">
            <a:avLst>
              <a:gd name="adj" fmla="val 4000"/>
            </a:avLst>
          </a:prstGeom>
        </p:spPr>
      </p:pic>
      <p:sp>
        <p:nvSpPr>
          <p:cNvPr id="6" name="alert-label-1">
            <a:extLst xmlns:a="http://schemas.openxmlformats.org/drawingml/2006/main">
              <a:ext uri="{FF2B5EF4-FFF2-40B4-BE49-F238E27FC236}">
                <a16:creationId xmlns:a16="http://schemas.microsoft.com/office/drawing/2014/main" id="{3ECBAA02-6604-4B6A-9748-784094208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4668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800" b="1">
                <a:solidFill>
                  <a:srgbClr val="D78318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800" b="1">
                <a:solidFill>
                  <a:srgbClr val="D78318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800" b="1">
                <a:solidFill>
                  <a:srgbClr val="D78318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800" b="1">
                <a:solidFill>
                  <a:srgbClr val="D78318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800" b="1">
                <a:solidFill>
                  <a:srgbClr val="D78318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800" b="1">
                <a:solidFill>
                  <a:srgbClr val="D78318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800" b="1">
                <a:solidFill>
                  <a:srgbClr val="D78318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800" b="1">
                <a:solidFill>
                  <a:srgbClr val="D78318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800" b="1">
                <a:solidFill>
                  <a:srgbClr val="D78318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800" b="1">
                <a:solidFill>
                  <a:srgbClr val="D7831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D78318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D78318"/>
                </a:solidFill>
                <a:latin typeface="DejaVu Sans"/>
                <a:ea typeface="DejaVu Sans"/>
                <a:cs typeface="DejaVu Sans"/>
              </a:rPr>
              <a:t>BPM BAIXO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59ED83-2008-4C14-B795-7D0E7BE6289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ac19559a7f4aa7"/>
          <a:srcRect xmlns:a="http://schemas.openxmlformats.org/drawingml/2006/main" l="8783" t="0" r="878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19600" y="1952625"/>
            <a:ext cx="3429000" cy="2857500"/>
          </a:xfrm>
          <a:prstGeom xmlns:a="http://schemas.openxmlformats.org/drawingml/2006/main" prst="roundRect">
            <a:avLst>
              <a:gd name="adj" fmla="val 4000"/>
            </a:avLst>
          </a:prstGeom>
        </p:spPr>
      </p:pic>
      <p:sp>
        <p:nvSpPr>
          <p:cNvPr id="8" name="alert-label-2">
            <a:extLst xmlns:a="http://schemas.openxmlformats.org/drawingml/2006/main">
              <a:ext uri="{FF2B5EF4-FFF2-40B4-BE49-F238E27FC236}">
                <a16:creationId xmlns:a16="http://schemas.microsoft.com/office/drawing/2014/main" id="{104EAF9F-1F6E-42AA-8A5C-EFE4F9784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4668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800" b="1">
                <a:solidFill>
                  <a:srgbClr val="C63C3C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800" b="1">
                <a:solidFill>
                  <a:srgbClr val="C63C3C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800" b="1">
                <a:solidFill>
                  <a:srgbClr val="C63C3C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800" b="1">
                <a:solidFill>
                  <a:srgbClr val="C63C3C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800" b="1">
                <a:solidFill>
                  <a:srgbClr val="C63C3C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800" b="1">
                <a:solidFill>
                  <a:srgbClr val="C63C3C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800" b="1">
                <a:solidFill>
                  <a:srgbClr val="C63C3C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800" b="1">
                <a:solidFill>
                  <a:srgbClr val="C63C3C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800" b="1">
                <a:solidFill>
                  <a:srgbClr val="C63C3C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800" b="1">
                <a:solidFill>
                  <a:srgbClr val="C63C3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C63C3C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C63C3C"/>
                </a:solidFill>
                <a:latin typeface="DejaVu Sans"/>
                <a:ea typeface="DejaVu Sans"/>
                <a:cs typeface="DejaVu Sans"/>
              </a:rPr>
              <a:t>FALHA DHT22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5D07A0-2204-4DB3-949B-F2F2773F3AA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8172136c9f4dcb"/>
          <a:srcRect xmlns:a="http://schemas.openxmlformats.org/drawingml/2006/main" l="8783" t="0" r="878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05800" y="1952625"/>
            <a:ext cx="3429000" cy="2857500"/>
          </a:xfrm>
          <a:prstGeom xmlns:a="http://schemas.openxmlformats.org/drawingml/2006/main" prst="roundRect">
            <a:avLst>
              <a:gd name="adj" fmla="val 4000"/>
            </a:avLst>
          </a:prstGeom>
        </p:spPr>
      </p:pic>
      <p:sp>
        <p:nvSpPr>
          <p:cNvPr id="10" name="alert-result">
            <a:extLst xmlns:a="http://schemas.openxmlformats.org/drawingml/2006/main">
              <a:ext uri="{FF2B5EF4-FFF2-40B4-BE49-F238E27FC236}">
                <a16:creationId xmlns:a16="http://schemas.microsoft.com/office/drawing/2014/main" id="{127AED02-6EF8-4795-AF7C-05D13C6ED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9590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800" b="1">
                <a:solidFill>
                  <a:srgbClr val="159A72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800" b="1">
                <a:solidFill>
                  <a:srgbClr val="159A72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800" b="1">
                <a:solidFill>
                  <a:srgbClr val="159A72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800" b="1">
                <a:solidFill>
                  <a:srgbClr val="159A72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800" b="1">
                <a:solidFill>
                  <a:srgbClr val="159A72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800" b="1">
                <a:solidFill>
                  <a:srgbClr val="159A72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800" b="1">
                <a:solidFill>
                  <a:srgbClr val="159A72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800" b="1">
                <a:solidFill>
                  <a:srgbClr val="159A72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800" b="1">
                <a:solidFill>
                  <a:srgbClr val="159A72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800" b="1">
                <a:solidFill>
                  <a:srgbClr val="159A7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59A72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59A72"/>
                </a:solidFill>
                <a:latin typeface="DejaVu Sans"/>
                <a:ea typeface="DejaVu Sans"/>
                <a:cs typeface="DejaVu Sans"/>
              </a:rPr>
              <a:t>Os três estados foram publicados e exibidos. O sistema voltou ao normal sem reiniciar o ESP32.</a:t>
            </a:r>
          </a:p>
        </p:txBody>
      </p:sp>
      <p:sp>
        <p:nvSpPr>
          <p:cNvPr id="11" name="footer-8">
            <a:extLst xmlns:a="http://schemas.openxmlformats.org/drawingml/2006/main">
              <a:ext uri="{FF2B5EF4-FFF2-40B4-BE49-F238E27FC236}">
                <a16:creationId xmlns:a16="http://schemas.microsoft.com/office/drawing/2014/main" id="{73BC563E-9A58-415A-8C11-8B75087C6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975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975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975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975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975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975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975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975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975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975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975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pPr>
            <a:r>
              <a:rPr sz="975">
                <a:solidFill>
                  <a:srgbClr val="68788D"/>
                </a:solidFill>
                <a:latin typeface="DejaVu Sans"/>
                <a:ea typeface="DejaVu Sans"/>
                <a:cs typeface="DejaVu Sans"/>
              </a:rPr>
              <a:t>CardioIA | FIAP | Fase 3</a:t>
            </a:r>
          </a:p>
        </p:txBody>
      </p:sp>
    </p:spTree>
    <p:extLst>
      <p:ext uri="{BB962C8B-B14F-4D97-AF65-F5344CB8AC3E}">
        <p14:creationId xmlns:p14="http://schemas.microsoft.com/office/powerpoint/2010/main" val="210649521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itle-9">
            <a:extLst xmlns:a="http://schemas.openxmlformats.org/drawingml/2006/main">
              <a:ext uri="{FF2B5EF4-FFF2-40B4-BE49-F238E27FC236}">
                <a16:creationId xmlns:a16="http://schemas.microsoft.com/office/drawing/2014/main" id="{EDEF3D10-F353-426C-B9C3-21BAEA20E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952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3225" b="1">
                <a:solidFill>
                  <a:srgbClr val="08172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225" b="1">
                <a:solidFill>
                  <a:srgbClr val="08172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225" b="1">
                <a:solidFill>
                  <a:srgbClr val="08172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225" b="1">
                <a:solidFill>
                  <a:srgbClr val="08172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225" b="1">
                <a:solidFill>
                  <a:srgbClr val="08172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225" b="1">
                <a:solidFill>
                  <a:srgbClr val="08172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225" b="1">
                <a:solidFill>
                  <a:srgbClr val="08172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225" b="1">
                <a:solidFill>
                  <a:srgbClr val="08172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225" b="1">
                <a:solidFill>
                  <a:srgbClr val="08172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225" b="1">
                <a:solidFill>
                  <a:srgbClr val="0817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08172C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08172C"/>
                </a:solidFill>
                <a:latin typeface="DejaVu Sans"/>
                <a:ea typeface="DejaVu Sans"/>
                <a:cs typeface="DejaVu Sans"/>
              </a:rPr>
              <a:t>Teste integrado e repetibilidade</a:t>
            </a:r>
          </a:p>
        </p:txBody>
      </p:sp>
      <p:sp>
        <p:nvSpPr>
          <p:cNvPr id="2" name="accent-9">
            <a:extLst xmlns:a="http://schemas.openxmlformats.org/drawingml/2006/main">
              <a:ext uri="{FF2B5EF4-FFF2-40B4-BE49-F238E27FC236}">
                <a16:creationId xmlns:a16="http://schemas.microsoft.com/office/drawing/2014/main" id="{9AAAD2D1-CB57-49FB-A31B-E48D33335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8191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-9">
            <a:extLst xmlns:a="http://schemas.openxmlformats.org/drawingml/2006/main">
              <a:ext uri="{FF2B5EF4-FFF2-40B4-BE49-F238E27FC236}">
                <a16:creationId xmlns:a16="http://schemas.microsoft.com/office/drawing/2014/main" id="{109B5775-2B92-42FF-ACFB-EA014B98B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5720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r">
              <a:defRPr sz="1425" b="1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425" b="1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425" b="1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425" b="1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425" b="1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425" b="1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425" b="1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425" b="1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425" b="1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425" b="1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425" b="1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68788D"/>
                </a:solidFill>
                <a:latin typeface="DejaVu Sans"/>
                <a:ea typeface="DejaVu Sans"/>
                <a:cs typeface="DejaVu Sans"/>
              </a:rPr>
              <a:t>09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BD1EBE-04CB-4AD5-BD95-375B97EFBC8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ecc5fd54304249"/>
          <a:stretch xmlns:a="http://schemas.openxmlformats.org/drawingml/2006/main"/>
        </p:blipFill>
        <p:spPr>
          <a:xfrm xmlns:a="http://schemas.openxmlformats.org/drawingml/2006/main">
            <a:off x="5924550" y="1664261"/>
            <a:ext cx="5581650" cy="3834279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  <p:sp>
        <p:nvSpPr>
          <p:cNvPr id="5" name="metric-value-0">
            <a:extLst xmlns:a="http://schemas.openxmlformats.org/drawingml/2006/main">
              <a:ext uri="{FF2B5EF4-FFF2-40B4-BE49-F238E27FC236}">
                <a16:creationId xmlns:a16="http://schemas.microsoft.com/office/drawing/2014/main" id="{F72779BB-FA64-47DD-A50A-B3BA269D8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1190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r">
              <a:defRPr sz="4050" b="1">
                <a:solidFill>
                  <a:srgbClr val="0B78D0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4050" b="1">
                <a:solidFill>
                  <a:srgbClr val="0B78D0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4050" b="1">
                <a:solidFill>
                  <a:srgbClr val="0B78D0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4050" b="1">
                <a:solidFill>
                  <a:srgbClr val="0B78D0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4050" b="1">
                <a:solidFill>
                  <a:srgbClr val="0B78D0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4050" b="1">
                <a:solidFill>
                  <a:srgbClr val="0B78D0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4050" b="1">
                <a:solidFill>
                  <a:srgbClr val="0B78D0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4050" b="1">
                <a:solidFill>
                  <a:srgbClr val="0B78D0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4050" b="1">
                <a:solidFill>
                  <a:srgbClr val="0B78D0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4050" b="1">
                <a:solidFill>
                  <a:srgbClr val="0B78D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4050" b="1">
                <a:solidFill>
                  <a:srgbClr val="0B78D0"/>
                </a:solidFill>
                <a:latin typeface="DejaVu Sans"/>
                <a:ea typeface="DejaVu Sans"/>
                <a:cs typeface="DejaVu Sans"/>
              </a:defRPr>
            </a:pPr>
            <a:r>
              <a:rPr sz="4050" b="1">
                <a:solidFill>
                  <a:srgbClr val="0B78D0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6" name="metric-label-0">
            <a:extLst xmlns:a="http://schemas.openxmlformats.org/drawingml/2006/main">
              <a:ext uri="{FF2B5EF4-FFF2-40B4-BE49-F238E27FC236}">
                <a16:creationId xmlns:a16="http://schemas.microsoft.com/office/drawing/2014/main" id="{24B4F8D7-D264-4CD7-96A2-DB4C6ABF9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609725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1725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725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725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725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725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725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725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725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725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725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725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pPr>
            <a:r>
              <a:rPr sz="1725">
                <a:solidFill>
                  <a:srgbClr val="1D2A3A"/>
                </a:solidFill>
                <a:latin typeface="DejaVu Sans"/>
                <a:ea typeface="DejaVu Sans"/>
                <a:cs typeface="DejaVu Sans"/>
              </a:rPr>
              <a:t>execuções independentes</a:t>
            </a:r>
          </a:p>
        </p:txBody>
      </p:sp>
      <p:sp>
        <p:nvSpPr>
          <p:cNvPr id="7" name="metric-value-1">
            <a:extLst xmlns:a="http://schemas.openxmlformats.org/drawingml/2006/main">
              <a:ext uri="{FF2B5EF4-FFF2-40B4-BE49-F238E27FC236}">
                <a16:creationId xmlns:a16="http://schemas.microsoft.com/office/drawing/2014/main" id="{5E76D3D0-EB9E-4879-B00F-4F5992CA0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1190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r">
              <a:defRPr sz="4050" b="1">
                <a:solidFill>
                  <a:srgbClr val="0B78D0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4050" b="1">
                <a:solidFill>
                  <a:srgbClr val="0B78D0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4050" b="1">
                <a:solidFill>
                  <a:srgbClr val="0B78D0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4050" b="1">
                <a:solidFill>
                  <a:srgbClr val="0B78D0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4050" b="1">
                <a:solidFill>
                  <a:srgbClr val="0B78D0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4050" b="1">
                <a:solidFill>
                  <a:srgbClr val="0B78D0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4050" b="1">
                <a:solidFill>
                  <a:srgbClr val="0B78D0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4050" b="1">
                <a:solidFill>
                  <a:srgbClr val="0B78D0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4050" b="1">
                <a:solidFill>
                  <a:srgbClr val="0B78D0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4050" b="1">
                <a:solidFill>
                  <a:srgbClr val="0B78D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4050" b="1">
                <a:solidFill>
                  <a:srgbClr val="0B78D0"/>
                </a:solidFill>
                <a:latin typeface="DejaVu Sans"/>
                <a:ea typeface="DejaVu Sans"/>
                <a:cs typeface="DejaVu Sans"/>
              </a:defRPr>
            </a:pPr>
            <a:r>
              <a:rPr sz="4050" b="1">
                <a:solidFill>
                  <a:srgbClr val="0B78D0"/>
                </a:solidFill>
                <a:latin typeface="DejaVu Sans"/>
                <a:ea typeface="DejaVu Sans"/>
                <a:cs typeface="DejaVu Sans"/>
              </a:rPr>
              <a:t>38</a:t>
            </a:r>
          </a:p>
        </p:txBody>
      </p:sp>
      <p:sp>
        <p:nvSpPr>
          <p:cNvPr id="8" name="metric-label-1">
            <a:extLst xmlns:a="http://schemas.openxmlformats.org/drawingml/2006/main">
              <a:ext uri="{FF2B5EF4-FFF2-40B4-BE49-F238E27FC236}">
                <a16:creationId xmlns:a16="http://schemas.microsoft.com/office/drawing/2014/main" id="{1490FEAF-AD53-4076-B2C3-AF4564D05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676525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1725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725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725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725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725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725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725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725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725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725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725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pPr>
            <a:r>
              <a:rPr sz="1725">
                <a:solidFill>
                  <a:srgbClr val="1D2A3A"/>
                </a:solidFill>
                <a:latin typeface="DejaVu Sans"/>
                <a:ea typeface="DejaVu Sans"/>
                <a:cs typeface="DejaVu Sans"/>
              </a:rPr>
              <a:t>verificações integradas</a:t>
            </a:r>
          </a:p>
        </p:txBody>
      </p:sp>
      <p:sp>
        <p:nvSpPr>
          <p:cNvPr id="9" name="metric-value-2">
            <a:extLst xmlns:a="http://schemas.openxmlformats.org/drawingml/2006/main">
              <a:ext uri="{FF2B5EF4-FFF2-40B4-BE49-F238E27FC236}">
                <a16:creationId xmlns:a16="http://schemas.microsoft.com/office/drawing/2014/main" id="{64AB5B81-2602-46C8-B548-BBA3139DD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38550"/>
            <a:ext cx="1190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r">
              <a:defRPr sz="4050" b="1">
                <a:solidFill>
                  <a:srgbClr val="0B78D0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4050" b="1">
                <a:solidFill>
                  <a:srgbClr val="0B78D0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4050" b="1">
                <a:solidFill>
                  <a:srgbClr val="0B78D0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4050" b="1">
                <a:solidFill>
                  <a:srgbClr val="0B78D0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4050" b="1">
                <a:solidFill>
                  <a:srgbClr val="0B78D0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4050" b="1">
                <a:solidFill>
                  <a:srgbClr val="0B78D0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4050" b="1">
                <a:solidFill>
                  <a:srgbClr val="0B78D0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4050" b="1">
                <a:solidFill>
                  <a:srgbClr val="0B78D0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4050" b="1">
                <a:solidFill>
                  <a:srgbClr val="0B78D0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4050" b="1">
                <a:solidFill>
                  <a:srgbClr val="0B78D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4050" b="1">
                <a:solidFill>
                  <a:srgbClr val="0B78D0"/>
                </a:solidFill>
                <a:latin typeface="DejaVu Sans"/>
                <a:ea typeface="DejaVu Sans"/>
                <a:cs typeface="DejaVu Sans"/>
              </a:defRPr>
            </a:pPr>
            <a:r>
              <a:rPr sz="4050" b="1">
                <a:solidFill>
                  <a:srgbClr val="0B78D0"/>
                </a:solidFill>
                <a:latin typeface="DejaVu Sans"/>
                <a:ea typeface="DejaVu Sans"/>
                <a:cs typeface="DejaVu Sans"/>
              </a:rPr>
              <a:t>9</a:t>
            </a:r>
          </a:p>
        </p:txBody>
      </p:sp>
      <p:sp>
        <p:nvSpPr>
          <p:cNvPr id="10" name="metric-label-2">
            <a:extLst xmlns:a="http://schemas.openxmlformats.org/drawingml/2006/main">
              <a:ext uri="{FF2B5EF4-FFF2-40B4-BE49-F238E27FC236}">
                <a16:creationId xmlns:a16="http://schemas.microsoft.com/office/drawing/2014/main" id="{F0F50EBE-058B-44BA-9FDB-0564F5A6E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743325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1725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725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725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725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725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725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725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725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725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725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725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pPr>
            <a:r>
              <a:rPr sz="1725">
                <a:solidFill>
                  <a:srgbClr val="1D2A3A"/>
                </a:solidFill>
                <a:latin typeface="DejaVu Sans"/>
                <a:ea typeface="DejaVu Sans"/>
                <a:cs typeface="DejaVu Sans"/>
              </a:rPr>
              <a:t>amostras sincronizadas</a:t>
            </a:r>
          </a:p>
        </p:txBody>
      </p:sp>
      <p:sp>
        <p:nvSpPr>
          <p:cNvPr id="11" name="metric-value-3">
            <a:extLst xmlns:a="http://schemas.openxmlformats.org/drawingml/2006/main">
              <a:ext uri="{FF2B5EF4-FFF2-40B4-BE49-F238E27FC236}">
                <a16:creationId xmlns:a16="http://schemas.microsoft.com/office/drawing/2014/main" id="{41F9F514-250C-4733-B13F-46413E82E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05350"/>
            <a:ext cx="1190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r">
              <a:defRPr sz="4050" b="1">
                <a:solidFill>
                  <a:srgbClr val="159A72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4050" b="1">
                <a:solidFill>
                  <a:srgbClr val="159A72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4050" b="1">
                <a:solidFill>
                  <a:srgbClr val="159A72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4050" b="1">
                <a:solidFill>
                  <a:srgbClr val="159A72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4050" b="1">
                <a:solidFill>
                  <a:srgbClr val="159A72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4050" b="1">
                <a:solidFill>
                  <a:srgbClr val="159A72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4050" b="1">
                <a:solidFill>
                  <a:srgbClr val="159A72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4050" b="1">
                <a:solidFill>
                  <a:srgbClr val="159A72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4050" b="1">
                <a:solidFill>
                  <a:srgbClr val="159A72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4050" b="1">
                <a:solidFill>
                  <a:srgbClr val="159A7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4050" b="1">
                <a:solidFill>
                  <a:srgbClr val="159A72"/>
                </a:solidFill>
                <a:latin typeface="DejaVu Sans"/>
                <a:ea typeface="DejaVu Sans"/>
                <a:cs typeface="DejaVu Sans"/>
              </a:defRPr>
            </a:pPr>
            <a:r>
              <a:rPr sz="4050" b="1">
                <a:solidFill>
                  <a:srgbClr val="159A72"/>
                </a:solidFill>
                <a:latin typeface="DejaVu Sans"/>
                <a:ea typeface="DejaVu Sans"/>
                <a:cs typeface="DejaVu Sans"/>
              </a:rPr>
              <a:t>0</a:t>
            </a:r>
          </a:p>
        </p:txBody>
      </p:sp>
      <p:sp>
        <p:nvSpPr>
          <p:cNvPr id="12" name="metric-label-3">
            <a:extLst xmlns:a="http://schemas.openxmlformats.org/drawingml/2006/main">
              <a:ext uri="{FF2B5EF4-FFF2-40B4-BE49-F238E27FC236}">
                <a16:creationId xmlns:a16="http://schemas.microsoft.com/office/drawing/2014/main" id="{6F540B2F-7E42-4090-8648-5854E2601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810125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1725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725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725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725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725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725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725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725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725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725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725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pPr>
            <a:r>
              <a:rPr sz="1725">
                <a:solidFill>
                  <a:srgbClr val="1D2A3A"/>
                </a:solidFill>
                <a:latin typeface="DejaVu Sans"/>
                <a:ea typeface="DejaVu Sans"/>
                <a:cs typeface="DejaVu Sans"/>
              </a:rPr>
              <a:t>descartes no ensaio</a:t>
            </a:r>
          </a:p>
        </p:txBody>
      </p:sp>
      <p:sp>
        <p:nvSpPr>
          <p:cNvPr id="13" name="footer-9">
            <a:extLst xmlns:a="http://schemas.openxmlformats.org/drawingml/2006/main">
              <a:ext uri="{FF2B5EF4-FFF2-40B4-BE49-F238E27FC236}">
                <a16:creationId xmlns:a16="http://schemas.microsoft.com/office/drawing/2014/main" id="{F55F15EB-D770-41B1-97D1-A66C5460C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975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975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975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975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975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975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975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975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975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975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975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pPr>
            <a:r>
              <a:rPr sz="975">
                <a:solidFill>
                  <a:srgbClr val="68788D"/>
                </a:solidFill>
                <a:latin typeface="DejaVu Sans"/>
                <a:ea typeface="DejaVu Sans"/>
                <a:cs typeface="DejaVu Sans"/>
              </a:rPr>
              <a:t>Resultado final: normal, online, fila 0</a:t>
            </a:r>
          </a:p>
        </p:txBody>
      </p:sp>
    </p:spTree>
    <p:extLst>
      <p:ext uri="{BB962C8B-B14F-4D97-AF65-F5344CB8AC3E}">
        <p14:creationId xmlns:p14="http://schemas.microsoft.com/office/powerpoint/2010/main" val="82673594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817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lessons-title">
            <a:extLst xmlns:a="http://schemas.openxmlformats.org/drawingml/2006/main">
              <a:ext uri="{FF2B5EF4-FFF2-40B4-BE49-F238E27FC236}">
                <a16:creationId xmlns:a16="http://schemas.microsoft.com/office/drawing/2014/main" id="{99D6483F-CF4F-4C4C-B13F-10EC42EF6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31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1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1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1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1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1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1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1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1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1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Lições aplicadas dos trabalhos anteriores</a:t>
            </a:r>
          </a:p>
        </p:txBody>
      </p:sp>
      <p:sp>
        <p:nvSpPr>
          <p:cNvPr id="2" name="lessons-one">
            <a:extLst xmlns:a="http://schemas.openxmlformats.org/drawingml/2006/main">
              <a:ext uri="{FF2B5EF4-FFF2-40B4-BE49-F238E27FC236}">
                <a16:creationId xmlns:a16="http://schemas.microsoft.com/office/drawing/2014/main" id="{6A15E703-6285-4406-A908-1AD360EC7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66875"/>
            <a:ext cx="4857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2175" b="1">
                <a:solidFill>
                  <a:srgbClr val="00A6C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75" b="1">
                <a:solidFill>
                  <a:srgbClr val="00A6C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75" b="1">
                <a:solidFill>
                  <a:srgbClr val="00A6C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75" b="1">
                <a:solidFill>
                  <a:srgbClr val="00A6C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75" b="1">
                <a:solidFill>
                  <a:srgbClr val="00A6C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75" b="1">
                <a:solidFill>
                  <a:srgbClr val="00A6C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75" b="1">
                <a:solidFill>
                  <a:srgbClr val="00A6C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75" b="1">
                <a:solidFill>
                  <a:srgbClr val="00A6C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75" b="1">
                <a:solidFill>
                  <a:srgbClr val="00A6C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75" b="1">
                <a:solidFill>
                  <a:srgbClr val="00A6C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0A6C8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A6C8"/>
                </a:solidFill>
                <a:latin typeface="DejaVu Sans"/>
                <a:ea typeface="DejaVu Sans"/>
                <a:cs typeface="DejaVu Sans"/>
              </a:rPr>
              <a:t>Evidência antes da conclusão</a:t>
            </a:r>
          </a:p>
        </p:txBody>
      </p:sp>
      <p:sp>
        <p:nvSpPr>
          <p:cNvPr id="3" name="lessons-one-detail">
            <a:extLst xmlns:a="http://schemas.openxmlformats.org/drawingml/2006/main">
              <a:ext uri="{FF2B5EF4-FFF2-40B4-BE49-F238E27FC236}">
                <a16:creationId xmlns:a16="http://schemas.microsoft.com/office/drawing/2014/main" id="{56118387-12F8-4D72-876C-D1213B1C9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19325"/>
            <a:ext cx="476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1650">
                <a:solidFill>
                  <a:srgbClr val="DCE8F2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>
                <a:solidFill>
                  <a:srgbClr val="DCE8F2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>
                <a:solidFill>
                  <a:srgbClr val="DCE8F2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>
                <a:solidFill>
                  <a:srgbClr val="DCE8F2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>
                <a:solidFill>
                  <a:srgbClr val="DCE8F2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>
                <a:solidFill>
                  <a:srgbClr val="DCE8F2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>
                <a:solidFill>
                  <a:srgbClr val="DCE8F2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>
                <a:solidFill>
                  <a:srgbClr val="DCE8F2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>
                <a:solidFill>
                  <a:srgbClr val="DCE8F2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>
                <a:solidFill>
                  <a:srgbClr val="DCE8F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>
                <a:solidFill>
                  <a:srgbClr val="DCE8F2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DCE8F2"/>
                </a:solidFill>
                <a:latin typeface="DejaVu Sans"/>
                <a:ea typeface="DejaVu Sans"/>
                <a:cs typeface="DejaVu Sans"/>
              </a:rPr>
              <a:t>Links, logs e capturas foram testados antes de marcar o checklist.</a:t>
            </a:r>
          </a:p>
        </p:txBody>
      </p:sp>
      <p:sp>
        <p:nvSpPr>
          <p:cNvPr id="4" name="lessons-two">
            <a:extLst xmlns:a="http://schemas.openxmlformats.org/drawingml/2006/main">
              <a:ext uri="{FF2B5EF4-FFF2-40B4-BE49-F238E27FC236}">
                <a16:creationId xmlns:a16="http://schemas.microsoft.com/office/drawing/2014/main" id="{A3D016AF-1FDF-4FF6-BD2B-55FD2FC0E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66875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2175" b="1">
                <a:solidFill>
                  <a:srgbClr val="00A6C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75" b="1">
                <a:solidFill>
                  <a:srgbClr val="00A6C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75" b="1">
                <a:solidFill>
                  <a:srgbClr val="00A6C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75" b="1">
                <a:solidFill>
                  <a:srgbClr val="00A6C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75" b="1">
                <a:solidFill>
                  <a:srgbClr val="00A6C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75" b="1">
                <a:solidFill>
                  <a:srgbClr val="00A6C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75" b="1">
                <a:solidFill>
                  <a:srgbClr val="00A6C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75" b="1">
                <a:solidFill>
                  <a:srgbClr val="00A6C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75" b="1">
                <a:solidFill>
                  <a:srgbClr val="00A6C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75" b="1">
                <a:solidFill>
                  <a:srgbClr val="00A6C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0A6C8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A6C8"/>
                </a:solidFill>
                <a:latin typeface="DejaVu Sans"/>
                <a:ea typeface="DejaVu Sans"/>
                <a:cs typeface="DejaVu Sans"/>
              </a:rPr>
              <a:t>Documentação consistente</a:t>
            </a:r>
          </a:p>
        </p:txBody>
      </p:sp>
      <p:sp>
        <p:nvSpPr>
          <p:cNvPr id="5" name="lessons-two-detail">
            <a:extLst xmlns:a="http://schemas.openxmlformats.org/drawingml/2006/main">
              <a:ext uri="{FF2B5EF4-FFF2-40B4-BE49-F238E27FC236}">
                <a16:creationId xmlns:a16="http://schemas.microsoft.com/office/drawing/2014/main" id="{37D3824B-AEFE-4205-88D3-BDA38F393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219325"/>
            <a:ext cx="476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1650">
                <a:solidFill>
                  <a:srgbClr val="DCE8F2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>
                <a:solidFill>
                  <a:srgbClr val="DCE8F2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>
                <a:solidFill>
                  <a:srgbClr val="DCE8F2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>
                <a:solidFill>
                  <a:srgbClr val="DCE8F2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>
                <a:solidFill>
                  <a:srgbClr val="DCE8F2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>
                <a:solidFill>
                  <a:srgbClr val="DCE8F2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>
                <a:solidFill>
                  <a:srgbClr val="DCE8F2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>
                <a:solidFill>
                  <a:srgbClr val="DCE8F2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>
                <a:solidFill>
                  <a:srgbClr val="DCE8F2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>
                <a:solidFill>
                  <a:srgbClr val="DCE8F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>
                <a:solidFill>
                  <a:srgbClr val="DCE8F2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DCE8F2"/>
                </a:solidFill>
                <a:latin typeface="DejaVu Sans"/>
                <a:ea typeface="DejaVu Sans"/>
                <a:cs typeface="DejaVu Sans"/>
              </a:rPr>
              <a:t>O estado atual foi separado dos registros históricos para evitar contradições.</a:t>
            </a:r>
          </a:p>
        </p:txBody>
      </p:sp>
      <p:sp>
        <p:nvSpPr>
          <p:cNvPr id="6" name="lessons-three">
            <a:extLst xmlns:a="http://schemas.openxmlformats.org/drawingml/2006/main">
              <a:ext uri="{FF2B5EF4-FFF2-40B4-BE49-F238E27FC236}">
                <a16:creationId xmlns:a16="http://schemas.microsoft.com/office/drawing/2014/main" id="{E2F67A3C-D7BD-4F2E-9430-B2343679E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000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2175" b="1">
                <a:solidFill>
                  <a:srgbClr val="00A6C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75" b="1">
                <a:solidFill>
                  <a:srgbClr val="00A6C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75" b="1">
                <a:solidFill>
                  <a:srgbClr val="00A6C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75" b="1">
                <a:solidFill>
                  <a:srgbClr val="00A6C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75" b="1">
                <a:solidFill>
                  <a:srgbClr val="00A6C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75" b="1">
                <a:solidFill>
                  <a:srgbClr val="00A6C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75" b="1">
                <a:solidFill>
                  <a:srgbClr val="00A6C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75" b="1">
                <a:solidFill>
                  <a:srgbClr val="00A6C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75" b="1">
                <a:solidFill>
                  <a:srgbClr val="00A6C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75" b="1">
                <a:solidFill>
                  <a:srgbClr val="00A6C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0A6C8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A6C8"/>
                </a:solidFill>
                <a:latin typeface="DejaVu Sans"/>
                <a:ea typeface="DejaVu Sans"/>
                <a:cs typeface="DejaVu Sans"/>
              </a:rPr>
              <a:t>Cenários independentes</a:t>
            </a:r>
          </a:p>
        </p:txBody>
      </p:sp>
      <p:sp>
        <p:nvSpPr>
          <p:cNvPr id="7" name="lessons-three-detail">
            <a:extLst xmlns:a="http://schemas.openxmlformats.org/drawingml/2006/main">
              <a:ext uri="{FF2B5EF4-FFF2-40B4-BE49-F238E27FC236}">
                <a16:creationId xmlns:a16="http://schemas.microsoft.com/office/drawing/2014/main" id="{ABEF4516-AE8B-4F4C-8C36-4BC7C37AC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62450"/>
            <a:ext cx="4762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1650">
                <a:solidFill>
                  <a:srgbClr val="DCE8F2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>
                <a:solidFill>
                  <a:srgbClr val="DCE8F2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>
                <a:solidFill>
                  <a:srgbClr val="DCE8F2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>
                <a:solidFill>
                  <a:srgbClr val="DCE8F2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>
                <a:solidFill>
                  <a:srgbClr val="DCE8F2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>
                <a:solidFill>
                  <a:srgbClr val="DCE8F2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>
                <a:solidFill>
                  <a:srgbClr val="DCE8F2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>
                <a:solidFill>
                  <a:srgbClr val="DCE8F2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>
                <a:solidFill>
                  <a:srgbClr val="DCE8F2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>
                <a:solidFill>
                  <a:srgbClr val="DCE8F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>
                <a:solidFill>
                  <a:srgbClr val="DCE8F2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DCE8F2"/>
                </a:solidFill>
                <a:latin typeface="DejaVu Sans"/>
                <a:ea typeface="DejaVu Sans"/>
                <a:cs typeface="DejaVu Sans"/>
              </a:rPr>
              <a:t>Duas inicializações e entradas diferentes reduziram a dependência de uma sequência preparada.</a:t>
            </a:r>
          </a:p>
        </p:txBody>
      </p:sp>
      <p:sp>
        <p:nvSpPr>
          <p:cNvPr id="8" name="lessons-four">
            <a:extLst xmlns:a="http://schemas.openxmlformats.org/drawingml/2006/main">
              <a:ext uri="{FF2B5EF4-FFF2-40B4-BE49-F238E27FC236}">
                <a16:creationId xmlns:a16="http://schemas.microsoft.com/office/drawing/2014/main" id="{B3EA051C-A8C2-44B4-8C31-BA559BC98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81000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2175" b="1">
                <a:solidFill>
                  <a:srgbClr val="00A6C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75" b="1">
                <a:solidFill>
                  <a:srgbClr val="00A6C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75" b="1">
                <a:solidFill>
                  <a:srgbClr val="00A6C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75" b="1">
                <a:solidFill>
                  <a:srgbClr val="00A6C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75" b="1">
                <a:solidFill>
                  <a:srgbClr val="00A6C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75" b="1">
                <a:solidFill>
                  <a:srgbClr val="00A6C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75" b="1">
                <a:solidFill>
                  <a:srgbClr val="00A6C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75" b="1">
                <a:solidFill>
                  <a:srgbClr val="00A6C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75" b="1">
                <a:solidFill>
                  <a:srgbClr val="00A6C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75" b="1">
                <a:solidFill>
                  <a:srgbClr val="00A6C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0A6C8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A6C8"/>
                </a:solidFill>
                <a:latin typeface="DejaVu Sans"/>
                <a:ea typeface="DejaVu Sans"/>
                <a:cs typeface="DejaVu Sans"/>
              </a:rPr>
              <a:t>Falhas permanecem visíveis</a:t>
            </a:r>
          </a:p>
        </p:txBody>
      </p:sp>
      <p:sp>
        <p:nvSpPr>
          <p:cNvPr id="9" name="lessons-four-detail">
            <a:extLst xmlns:a="http://schemas.openxmlformats.org/drawingml/2006/main">
              <a:ext uri="{FF2B5EF4-FFF2-40B4-BE49-F238E27FC236}">
                <a16:creationId xmlns:a16="http://schemas.microsoft.com/office/drawing/2014/main" id="{3130559B-AB3C-4670-A6A6-4AC622488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62450"/>
            <a:ext cx="4762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1650">
                <a:solidFill>
                  <a:srgbClr val="DCE8F2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>
                <a:solidFill>
                  <a:srgbClr val="DCE8F2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>
                <a:solidFill>
                  <a:srgbClr val="DCE8F2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>
                <a:solidFill>
                  <a:srgbClr val="DCE8F2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>
                <a:solidFill>
                  <a:srgbClr val="DCE8F2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>
                <a:solidFill>
                  <a:srgbClr val="DCE8F2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>
                <a:solidFill>
                  <a:srgbClr val="DCE8F2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>
                <a:solidFill>
                  <a:srgbClr val="DCE8F2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>
                <a:solidFill>
                  <a:srgbClr val="DCE8F2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>
                <a:solidFill>
                  <a:srgbClr val="DCE8F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>
                <a:solidFill>
                  <a:srgbClr val="DCE8F2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DCE8F2"/>
                </a:solidFill>
                <a:latin typeface="DejaVu Sans"/>
                <a:ea typeface="DejaVu Sans"/>
                <a:cs typeface="DejaVu Sans"/>
              </a:rPr>
              <a:t>Tentativas incompletas e limitações foram registradas com a correção aplicada.</a:t>
            </a:r>
          </a:p>
        </p:txBody>
      </p:sp>
    </p:spTree>
    <p:extLst>
      <p:ext uri="{BB962C8B-B14F-4D97-AF65-F5344CB8AC3E}">
        <p14:creationId xmlns:p14="http://schemas.microsoft.com/office/powerpoint/2010/main" val="8763662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itle-11">
            <a:extLst xmlns:a="http://schemas.openxmlformats.org/drawingml/2006/main">
              <a:ext uri="{FF2B5EF4-FFF2-40B4-BE49-F238E27FC236}">
                <a16:creationId xmlns:a16="http://schemas.microsoft.com/office/drawing/2014/main" id="{C614C092-3888-4071-8C44-2BD58A39B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952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3225" b="1">
                <a:solidFill>
                  <a:srgbClr val="08172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225" b="1">
                <a:solidFill>
                  <a:srgbClr val="08172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225" b="1">
                <a:solidFill>
                  <a:srgbClr val="08172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225" b="1">
                <a:solidFill>
                  <a:srgbClr val="08172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225" b="1">
                <a:solidFill>
                  <a:srgbClr val="08172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225" b="1">
                <a:solidFill>
                  <a:srgbClr val="08172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225" b="1">
                <a:solidFill>
                  <a:srgbClr val="08172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225" b="1">
                <a:solidFill>
                  <a:srgbClr val="08172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225" b="1">
                <a:solidFill>
                  <a:srgbClr val="08172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225" b="1">
                <a:solidFill>
                  <a:srgbClr val="0817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08172C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08172C"/>
                </a:solidFill>
                <a:latin typeface="DejaVu Sans"/>
                <a:ea typeface="DejaVu Sans"/>
                <a:cs typeface="DejaVu Sans"/>
              </a:rPr>
              <a:t>Equipe e revisão necessária</a:t>
            </a:r>
          </a:p>
        </p:txBody>
      </p:sp>
      <p:sp>
        <p:nvSpPr>
          <p:cNvPr id="2" name="accent-11">
            <a:extLst xmlns:a="http://schemas.openxmlformats.org/drawingml/2006/main">
              <a:ext uri="{FF2B5EF4-FFF2-40B4-BE49-F238E27FC236}">
                <a16:creationId xmlns:a16="http://schemas.microsoft.com/office/drawing/2014/main" id="{A4B33E26-EED8-4028-B1BF-13A496638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8191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-11">
            <a:extLst xmlns:a="http://schemas.openxmlformats.org/drawingml/2006/main">
              <a:ext uri="{FF2B5EF4-FFF2-40B4-BE49-F238E27FC236}">
                <a16:creationId xmlns:a16="http://schemas.microsoft.com/office/drawing/2014/main" id="{F8D731FE-752B-4C97-AE09-0D85A545C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5720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r">
              <a:defRPr sz="1425" b="1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425" b="1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425" b="1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425" b="1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425" b="1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425" b="1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425" b="1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425" b="1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425" b="1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425" b="1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425" b="1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68788D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  <p:sp>
        <p:nvSpPr>
          <p:cNvPr id="4" name="team-dot-0">
            <a:extLst xmlns:a="http://schemas.openxmlformats.org/drawingml/2006/main">
              <a:ext uri="{FF2B5EF4-FFF2-40B4-BE49-F238E27FC236}">
                <a16:creationId xmlns:a16="http://schemas.microsoft.com/office/drawing/2014/main" id="{61D0F528-5BE5-47E0-B2A7-342B407AD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478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6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am-name-0">
            <a:extLst xmlns:a="http://schemas.openxmlformats.org/drawingml/2006/main">
              <a:ext uri="{FF2B5EF4-FFF2-40B4-BE49-F238E27FC236}">
                <a16:creationId xmlns:a16="http://schemas.microsoft.com/office/drawing/2014/main" id="{9201AA77-5DAC-42CD-A6C3-F31C6EC8E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56210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1800" b="1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1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1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1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1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1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1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1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1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1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D2A3A"/>
                </a:solidFill>
                <a:latin typeface="DejaVu Sans"/>
                <a:ea typeface="DejaVu Sans"/>
                <a:cs typeface="DejaVu Sans"/>
              </a:rPr>
              <a:t>Fabrício Mouzer Brito</a:t>
            </a:r>
          </a:p>
        </p:txBody>
      </p:sp>
      <p:sp>
        <p:nvSpPr>
          <p:cNvPr id="6" name="team-rm-0">
            <a:extLst xmlns:a="http://schemas.openxmlformats.org/drawingml/2006/main">
              <a:ext uri="{FF2B5EF4-FFF2-40B4-BE49-F238E27FC236}">
                <a16:creationId xmlns:a16="http://schemas.microsoft.com/office/drawing/2014/main" id="{0404EB15-6351-436C-A3F7-E6A862961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56210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1650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68788D"/>
                </a:solidFill>
                <a:latin typeface="DejaVu Sans"/>
                <a:ea typeface="DejaVu Sans"/>
                <a:cs typeface="DejaVu Sans"/>
              </a:rPr>
              <a:t>RM566777</a:t>
            </a:r>
          </a:p>
        </p:txBody>
      </p:sp>
      <p:sp>
        <p:nvSpPr>
          <p:cNvPr id="7" name="team-dot-1">
            <a:extLst xmlns:a="http://schemas.openxmlformats.org/drawingml/2006/main">
              <a:ext uri="{FF2B5EF4-FFF2-40B4-BE49-F238E27FC236}">
                <a16:creationId xmlns:a16="http://schemas.microsoft.com/office/drawing/2014/main" id="{F3F5C5D0-BDAE-4A82-9052-A7C54F293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384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9A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am-name-1">
            <a:extLst xmlns:a="http://schemas.openxmlformats.org/drawingml/2006/main">
              <a:ext uri="{FF2B5EF4-FFF2-40B4-BE49-F238E27FC236}">
                <a16:creationId xmlns:a16="http://schemas.microsoft.com/office/drawing/2014/main" id="{18ACFCB9-CE79-4FC4-9B4C-B50444037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352675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1800" b="1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1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1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1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1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1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1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1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1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1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D2A3A"/>
                </a:solidFill>
                <a:latin typeface="DejaVu Sans"/>
                <a:ea typeface="DejaVu Sans"/>
                <a:cs typeface="DejaVu Sans"/>
              </a:rPr>
              <a:t>Enzo Nunes Castanheira Gloria da Silva</a:t>
            </a:r>
          </a:p>
        </p:txBody>
      </p:sp>
      <p:sp>
        <p:nvSpPr>
          <p:cNvPr id="9" name="team-rm-1">
            <a:extLst xmlns:a="http://schemas.openxmlformats.org/drawingml/2006/main">
              <a:ext uri="{FF2B5EF4-FFF2-40B4-BE49-F238E27FC236}">
                <a16:creationId xmlns:a16="http://schemas.microsoft.com/office/drawing/2014/main" id="{AD6240BB-F7A0-4FBE-A030-30FDB1540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52675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1650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68788D"/>
                </a:solidFill>
                <a:latin typeface="DejaVu Sans"/>
                <a:ea typeface="DejaVu Sans"/>
                <a:cs typeface="DejaVu Sans"/>
              </a:rPr>
              <a:t>RM567599</a:t>
            </a:r>
          </a:p>
        </p:txBody>
      </p:sp>
      <p:sp>
        <p:nvSpPr>
          <p:cNvPr id="10" name="team-dot-2">
            <a:extLst xmlns:a="http://schemas.openxmlformats.org/drawingml/2006/main">
              <a:ext uri="{FF2B5EF4-FFF2-40B4-BE49-F238E27FC236}">
                <a16:creationId xmlns:a16="http://schemas.microsoft.com/office/drawing/2014/main" id="{90C76F53-3D9B-497F-AF20-2E8DC5E4B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289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9A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am-name-2">
            <a:extLst xmlns:a="http://schemas.openxmlformats.org/drawingml/2006/main">
              <a:ext uri="{FF2B5EF4-FFF2-40B4-BE49-F238E27FC236}">
                <a16:creationId xmlns:a16="http://schemas.microsoft.com/office/drawing/2014/main" id="{8E480AD5-C34C-47C1-9CD6-49E456E30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1432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1800" b="1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1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1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1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1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1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1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1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1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1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D2A3A"/>
                </a:solidFill>
                <a:latin typeface="DejaVu Sans"/>
                <a:ea typeface="DejaVu Sans"/>
                <a:cs typeface="DejaVu Sans"/>
              </a:rPr>
              <a:t>Larissa Nunes Moreira Reis</a:t>
            </a:r>
          </a:p>
        </p:txBody>
      </p:sp>
      <p:sp>
        <p:nvSpPr>
          <p:cNvPr id="12" name="team-rm-2">
            <a:extLst xmlns:a="http://schemas.openxmlformats.org/drawingml/2006/main">
              <a:ext uri="{FF2B5EF4-FFF2-40B4-BE49-F238E27FC236}">
                <a16:creationId xmlns:a16="http://schemas.microsoft.com/office/drawing/2014/main" id="{2CE60D68-FF19-4780-A8F6-1DB0371BB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4325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1650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68788D"/>
                </a:solidFill>
                <a:latin typeface="DejaVu Sans"/>
                <a:ea typeface="DejaVu Sans"/>
                <a:cs typeface="DejaVu Sans"/>
              </a:rPr>
              <a:t>RM568280</a:t>
            </a:r>
          </a:p>
        </p:txBody>
      </p:sp>
      <p:sp>
        <p:nvSpPr>
          <p:cNvPr id="13" name="team-dot-3">
            <a:extLst xmlns:a="http://schemas.openxmlformats.org/drawingml/2006/main">
              <a:ext uri="{FF2B5EF4-FFF2-40B4-BE49-F238E27FC236}">
                <a16:creationId xmlns:a16="http://schemas.microsoft.com/office/drawing/2014/main" id="{D94DE802-315D-4F5F-9607-657F5CD42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195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9A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am-name-3">
            <a:extLst xmlns:a="http://schemas.openxmlformats.org/drawingml/2006/main">
              <a:ext uri="{FF2B5EF4-FFF2-40B4-BE49-F238E27FC236}">
                <a16:creationId xmlns:a16="http://schemas.microsoft.com/office/drawing/2014/main" id="{D82A7136-5915-4EE3-8B8E-B9CE0D8D3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933825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1800" b="1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1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1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1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1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1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1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1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1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1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D2A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D2A3A"/>
                </a:solidFill>
                <a:latin typeface="DejaVu Sans"/>
                <a:ea typeface="DejaVu Sans"/>
                <a:cs typeface="DejaVu Sans"/>
              </a:rPr>
              <a:t>Gabriel Rapozo Guimarães Soares</a:t>
            </a:r>
          </a:p>
        </p:txBody>
      </p:sp>
      <p:sp>
        <p:nvSpPr>
          <p:cNvPr id="15" name="team-rm-3">
            <a:extLst xmlns:a="http://schemas.openxmlformats.org/drawingml/2006/main">
              <a:ext uri="{FF2B5EF4-FFF2-40B4-BE49-F238E27FC236}">
                <a16:creationId xmlns:a16="http://schemas.microsoft.com/office/drawing/2014/main" id="{13658E6B-D6CB-483A-B5E0-CF370977A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933825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1650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68788D"/>
                </a:solidFill>
                <a:latin typeface="DejaVu Sans"/>
                <a:ea typeface="DejaVu Sans"/>
                <a:cs typeface="DejaVu Sans"/>
              </a:rPr>
              <a:t>RM568480</a:t>
            </a:r>
          </a:p>
        </p:txBody>
      </p:sp>
      <p:sp>
        <p:nvSpPr>
          <p:cNvPr id="16" name="review-callout">
            <a:extLst xmlns:a="http://schemas.openxmlformats.org/drawingml/2006/main">
              <a:ext uri="{FF2B5EF4-FFF2-40B4-BE49-F238E27FC236}">
                <a16:creationId xmlns:a16="http://schemas.microsoft.com/office/drawing/2014/main" id="{9512502D-6B19-4634-9EC2-BA2B08780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571625"/>
            <a:ext cx="34290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DF4F8"/>
          </a:solidFill>
          <a:ln xmlns:a="http://schemas.openxmlformats.org/drawingml/2006/main" w="28575">
            <a:solidFill>
              <a:srgbClr val="00A6C8"/>
            </a:solidFill>
            <a:prstDash val="solid"/>
          </a:ln>
        </p:spPr>
      </p:sp>
      <p:sp>
        <p:nvSpPr>
          <p:cNvPr id="17" name="review-callout-title">
            <a:extLst xmlns:a="http://schemas.openxmlformats.org/drawingml/2006/main">
              <a:ext uri="{FF2B5EF4-FFF2-40B4-BE49-F238E27FC236}">
                <a16:creationId xmlns:a16="http://schemas.microsoft.com/office/drawing/2014/main" id="{B271E3A5-10A2-4C8B-899D-B45AF10C4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885950"/>
            <a:ext cx="2714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2025" b="1">
                <a:solidFill>
                  <a:srgbClr val="08172C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2025" b="1">
                <a:solidFill>
                  <a:srgbClr val="08172C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2025" b="1">
                <a:solidFill>
                  <a:srgbClr val="08172C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2025" b="1">
                <a:solidFill>
                  <a:srgbClr val="08172C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2025" b="1">
                <a:solidFill>
                  <a:srgbClr val="08172C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2025" b="1">
                <a:solidFill>
                  <a:srgbClr val="08172C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2025" b="1">
                <a:solidFill>
                  <a:srgbClr val="08172C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2025" b="1">
                <a:solidFill>
                  <a:srgbClr val="08172C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2025" b="1">
                <a:solidFill>
                  <a:srgbClr val="08172C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2025" b="1">
                <a:solidFill>
                  <a:srgbClr val="0817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8172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8172C"/>
                </a:solidFill>
                <a:latin typeface="DejaVu Sans"/>
                <a:ea typeface="DejaVu Sans"/>
                <a:cs typeface="DejaVu Sans"/>
              </a:rPr>
              <a:t>Antes de encerrar a Etapa 7</a:t>
            </a:r>
          </a:p>
        </p:txBody>
      </p:sp>
      <p:sp>
        <p:nvSpPr>
          <p:cNvPr id="18" name="review-list">
            <a:extLst xmlns:a="http://schemas.openxmlformats.org/drawingml/2006/main">
              <a:ext uri="{FF2B5EF4-FFF2-40B4-BE49-F238E27FC236}">
                <a16:creationId xmlns:a16="http://schemas.microsoft.com/office/drawing/2014/main" id="{95BB4261-85BA-42DF-903F-CA0532AE3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724150"/>
            <a:ext cx="25717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4" indent="-12">
              <a:spcAft>
                <a:spcPts val="12"/>
              </a:spcAft>
              <a:buChar char="•"/>
            </a:pPr>
            <a:r>
              <a:rPr sz="1500">
                <a:solidFill>
                  <a:srgbClr val="1D2A3A"/>
                </a:solidFill>
                <a:latin typeface="DejaVu Sans"/>
                <a:ea typeface="DejaVu Sans"/>
                <a:cs typeface="DejaVu Sans"/>
              </a:rPr>
              <a:t>Abrir os dois relatórios</a:t>
            </a:r>
          </a:p>
          <a:p xmlns:a="http://schemas.openxmlformats.org/drawingml/2006/main">
            <a:pPr marL="24" indent="-12">
              <a:spcAft>
                <a:spcPts val="12"/>
              </a:spcAft>
              <a:buChar char="•"/>
            </a:pPr>
            <a:r>
              <a:rPr sz="1500">
                <a:solidFill>
                  <a:srgbClr val="1D2A3A"/>
                </a:solidFill>
                <a:latin typeface="DejaVu Sans"/>
                <a:ea typeface="DejaVu Sans"/>
                <a:cs typeface="DejaVu Sans"/>
              </a:rPr>
              <a:t>Conferir o PowerPoint</a:t>
            </a:r>
          </a:p>
          <a:p xmlns:a="http://schemas.openxmlformats.org/drawingml/2006/main">
            <a:pPr marL="24" indent="-12">
              <a:spcAft>
                <a:spcPts val="12"/>
              </a:spcAft>
              <a:buChar char="•"/>
            </a:pPr>
            <a:r>
              <a:rPr sz="1500">
                <a:solidFill>
                  <a:srgbClr val="1D2A3A"/>
                </a:solidFill>
                <a:latin typeface="DejaVu Sans"/>
                <a:ea typeface="DejaVu Sans"/>
                <a:cs typeface="DejaVu Sans"/>
              </a:rPr>
              <a:t>Testar os links públicos</a:t>
            </a:r>
          </a:p>
          <a:p xmlns:a="http://schemas.openxmlformats.org/drawingml/2006/main">
            <a:pPr marL="24" indent="-12">
              <a:spcAft>
                <a:spcPts val="12"/>
              </a:spcAft>
              <a:buChar char="•"/>
            </a:pPr>
            <a:r>
              <a:rPr sz="1500">
                <a:solidFill>
                  <a:srgbClr val="1D2A3A"/>
                </a:solidFill>
                <a:latin typeface="DejaVu Sans"/>
                <a:ea typeface="DejaVu Sans"/>
                <a:cs typeface="DejaVu Sans"/>
              </a:rPr>
              <a:t>Aprovar ou pedir correções</a:t>
            </a:r>
          </a:p>
        </p:txBody>
      </p:sp>
      <p:sp>
        <p:nvSpPr>
          <p:cNvPr id="19" name="review-status">
            <a:extLst xmlns:a="http://schemas.openxmlformats.org/drawingml/2006/main">
              <a:ext uri="{FF2B5EF4-FFF2-40B4-BE49-F238E27FC236}">
                <a16:creationId xmlns:a16="http://schemas.microsoft.com/office/drawing/2014/main" id="{7F5B4FCD-36F8-4E09-B098-BB6345B09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41020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725" b="1">
                <a:solidFill>
                  <a:srgbClr val="D78318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725" b="1">
                <a:solidFill>
                  <a:srgbClr val="D78318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725" b="1">
                <a:solidFill>
                  <a:srgbClr val="D78318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725" b="1">
                <a:solidFill>
                  <a:srgbClr val="D78318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725" b="1">
                <a:solidFill>
                  <a:srgbClr val="D78318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725" b="1">
                <a:solidFill>
                  <a:srgbClr val="D78318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725" b="1">
                <a:solidFill>
                  <a:srgbClr val="D78318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725" b="1">
                <a:solidFill>
                  <a:srgbClr val="D78318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725" b="1">
                <a:solidFill>
                  <a:srgbClr val="D78318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725" b="1">
                <a:solidFill>
                  <a:srgbClr val="D7831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D78318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D78318"/>
                </a:solidFill>
                <a:latin typeface="DejaVu Sans"/>
                <a:ea typeface="DejaVu Sans"/>
                <a:cs typeface="DejaVu Sans"/>
              </a:rPr>
              <a:t>Status atual: aguardando os quatro integrantes</a:t>
            </a:r>
          </a:p>
        </p:txBody>
      </p:sp>
      <p:sp>
        <p:nvSpPr>
          <p:cNvPr id="20" name="footer-11">
            <a:extLst xmlns:a="http://schemas.openxmlformats.org/drawingml/2006/main">
              <a:ext uri="{FF2B5EF4-FFF2-40B4-BE49-F238E27FC236}">
                <a16:creationId xmlns:a16="http://schemas.microsoft.com/office/drawing/2014/main" id="{DFFBFFDD-F5D6-41FB-8FF7-F94783958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975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975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975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975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975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975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975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975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975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975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975">
                <a:solidFill>
                  <a:srgbClr val="68788D"/>
                </a:solidFill>
                <a:latin typeface="DejaVu Sans"/>
                <a:ea typeface="DejaVu Sans"/>
                <a:cs typeface="DejaVu Sans"/>
              </a:defRPr>
            </a:pPr>
            <a:r>
              <a:rPr sz="975">
                <a:solidFill>
                  <a:srgbClr val="68788D"/>
                </a:solidFill>
                <a:latin typeface="DejaVu Sans"/>
                <a:ea typeface="DejaVu Sans"/>
                <a:cs typeface="DejaVu Sans"/>
              </a:rPr>
              <a:t>CardioIA | FIAP | Fase 3</a:t>
            </a:r>
          </a:p>
        </p:txBody>
      </p:sp>
    </p:spTree>
    <p:extLst>
      <p:ext uri="{BB962C8B-B14F-4D97-AF65-F5344CB8AC3E}">
        <p14:creationId xmlns:p14="http://schemas.microsoft.com/office/powerpoint/2010/main" val="95055208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817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links-title">
            <a:extLst xmlns:a="http://schemas.openxmlformats.org/drawingml/2006/main">
              <a:ext uri="{FF2B5EF4-FFF2-40B4-BE49-F238E27FC236}">
                <a16:creationId xmlns:a16="http://schemas.microsoft.com/office/drawing/2014/main" id="{F2D5E72E-7BCB-4058-BCB5-873533C38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7429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33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3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3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Acessos públicos</a:t>
            </a:r>
          </a:p>
        </p:txBody>
      </p:sp>
      <p:sp>
        <p:nvSpPr>
          <p:cNvPr id="2" name="links-subtitle">
            <a:extLst xmlns:a="http://schemas.openxmlformats.org/drawingml/2006/main">
              <a:ext uri="{FF2B5EF4-FFF2-40B4-BE49-F238E27FC236}">
                <a16:creationId xmlns:a16="http://schemas.microsoft.com/office/drawing/2014/main" id="{6215AED0-DDEC-40C2-9200-F16895A45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1725">
                <a:solidFill>
                  <a:srgbClr val="DCE8F2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725">
                <a:solidFill>
                  <a:srgbClr val="DCE8F2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725">
                <a:solidFill>
                  <a:srgbClr val="DCE8F2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725">
                <a:solidFill>
                  <a:srgbClr val="DCE8F2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725">
                <a:solidFill>
                  <a:srgbClr val="DCE8F2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725">
                <a:solidFill>
                  <a:srgbClr val="DCE8F2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725">
                <a:solidFill>
                  <a:srgbClr val="DCE8F2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725">
                <a:solidFill>
                  <a:srgbClr val="DCE8F2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725">
                <a:solidFill>
                  <a:srgbClr val="DCE8F2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725">
                <a:solidFill>
                  <a:srgbClr val="DCE8F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725">
                <a:solidFill>
                  <a:srgbClr val="DCE8F2"/>
                </a:solidFill>
                <a:latin typeface="DejaVu Sans"/>
                <a:ea typeface="DejaVu Sans"/>
                <a:cs typeface="DejaVu Sans"/>
              </a:defRPr>
            </a:pPr>
            <a:r>
              <a:rPr sz="1725">
                <a:solidFill>
                  <a:srgbClr val="DCE8F2"/>
                </a:solidFill>
                <a:latin typeface="DejaVu Sans"/>
                <a:ea typeface="DejaVu Sans"/>
                <a:cs typeface="DejaVu Sans"/>
              </a:rPr>
              <a:t>Clique nos endereços para revisar o trabalho completo</a:t>
            </a:r>
          </a:p>
        </p:txBody>
      </p:sp>
      <p:sp>
        <p:nvSpPr>
          <p:cNvPr id="3" name="link-label-0">
            <a:extLst xmlns:a="http://schemas.openxmlformats.org/drawingml/2006/main">
              <a:ext uri="{FF2B5EF4-FFF2-40B4-BE49-F238E27FC236}">
                <a16:creationId xmlns:a16="http://schemas.microsoft.com/office/drawing/2014/main" id="{4503018C-AC6A-41A6-8917-3111B8F29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812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1725" b="1">
                <a:solidFill>
                  <a:srgbClr val="00A6C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725" b="1">
                <a:solidFill>
                  <a:srgbClr val="00A6C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725" b="1">
                <a:solidFill>
                  <a:srgbClr val="00A6C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725" b="1">
                <a:solidFill>
                  <a:srgbClr val="00A6C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725" b="1">
                <a:solidFill>
                  <a:srgbClr val="00A6C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725" b="1">
                <a:solidFill>
                  <a:srgbClr val="00A6C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725" b="1">
                <a:solidFill>
                  <a:srgbClr val="00A6C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725" b="1">
                <a:solidFill>
                  <a:srgbClr val="00A6C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725" b="1">
                <a:solidFill>
                  <a:srgbClr val="00A6C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725" b="1">
                <a:solidFill>
                  <a:srgbClr val="00A6C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0A6C8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0A6C8"/>
                </a:solidFill>
                <a:latin typeface="DejaVu Sans"/>
                <a:ea typeface="DejaVu Sans"/>
                <a:cs typeface="DejaVu Sans"/>
              </a:rPr>
              <a:t>GitHub</a:t>
            </a:r>
          </a:p>
        </p:txBody>
      </p:sp>
      <p:sp>
        <p:nvSpPr>
          <p:cNvPr id="4" name="link-url-0">
            <a:extLst xmlns:a="http://schemas.openxmlformats.org/drawingml/2006/main">
              <a:ext uri="{FF2B5EF4-FFF2-40B4-BE49-F238E27FC236}">
                <a16:creationId xmlns:a16="http://schemas.microsoft.com/office/drawing/2014/main" id="{F4134DDD-63E1-4A0A-859A-94E2099E0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981200"/>
            <a:ext cx="790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135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35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u="sng">
                <a:solidFill>
                  <a:srgbClr val="FFFFFF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a45b5cc471dc4834"/>
              </a:rPr>
              <a:t>https://github.com/FabricioMouzer/CardioIA-Fase3-Monitoramento-IoT</a:t>
            </a:r>
          </a:p>
        </p:txBody>
      </p:sp>
      <p:sp>
        <p:nvSpPr>
          <p:cNvPr id="5" name="link-label-1">
            <a:extLst xmlns:a="http://schemas.openxmlformats.org/drawingml/2006/main">
              <a:ext uri="{FF2B5EF4-FFF2-40B4-BE49-F238E27FC236}">
                <a16:creationId xmlns:a16="http://schemas.microsoft.com/office/drawing/2014/main" id="{1BC1C5BD-93F9-48A3-8145-3CCF5B38F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622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1725" b="1">
                <a:solidFill>
                  <a:srgbClr val="00A6C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725" b="1">
                <a:solidFill>
                  <a:srgbClr val="00A6C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725" b="1">
                <a:solidFill>
                  <a:srgbClr val="00A6C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725" b="1">
                <a:solidFill>
                  <a:srgbClr val="00A6C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725" b="1">
                <a:solidFill>
                  <a:srgbClr val="00A6C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725" b="1">
                <a:solidFill>
                  <a:srgbClr val="00A6C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725" b="1">
                <a:solidFill>
                  <a:srgbClr val="00A6C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725" b="1">
                <a:solidFill>
                  <a:srgbClr val="00A6C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725" b="1">
                <a:solidFill>
                  <a:srgbClr val="00A6C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725" b="1">
                <a:solidFill>
                  <a:srgbClr val="00A6C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0A6C8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0A6C8"/>
                </a:solidFill>
                <a:latin typeface="DejaVu Sans"/>
                <a:ea typeface="DejaVu Sans"/>
                <a:cs typeface="DejaVu Sans"/>
              </a:rPr>
              <a:t>Wokwi</a:t>
            </a:r>
          </a:p>
        </p:txBody>
      </p:sp>
      <p:sp>
        <p:nvSpPr>
          <p:cNvPr id="6" name="link-url-1">
            <a:extLst xmlns:a="http://schemas.openxmlformats.org/drawingml/2006/main">
              <a:ext uri="{FF2B5EF4-FFF2-40B4-BE49-F238E27FC236}">
                <a16:creationId xmlns:a16="http://schemas.microsoft.com/office/drawing/2014/main" id="{6E6E39E5-FDA0-46E1-9566-033D8C607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762250"/>
            <a:ext cx="790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135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35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u="sng">
                <a:solidFill>
                  <a:srgbClr val="FFFFFF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e43540fa814f4ebc"/>
              </a:rPr>
              <a:t>https://wokwi.com/projects/478851580032675841</a:t>
            </a:r>
          </a:p>
        </p:txBody>
      </p:sp>
      <p:sp>
        <p:nvSpPr>
          <p:cNvPr id="7" name="link-label-2">
            <a:extLst xmlns:a="http://schemas.openxmlformats.org/drawingml/2006/main">
              <a:ext uri="{FF2B5EF4-FFF2-40B4-BE49-F238E27FC236}">
                <a16:creationId xmlns:a16="http://schemas.microsoft.com/office/drawing/2014/main" id="{BA727517-ACBE-444C-AD0B-B88BEFCF3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1725" b="1">
                <a:solidFill>
                  <a:srgbClr val="00A6C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725" b="1">
                <a:solidFill>
                  <a:srgbClr val="00A6C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725" b="1">
                <a:solidFill>
                  <a:srgbClr val="00A6C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725" b="1">
                <a:solidFill>
                  <a:srgbClr val="00A6C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725" b="1">
                <a:solidFill>
                  <a:srgbClr val="00A6C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725" b="1">
                <a:solidFill>
                  <a:srgbClr val="00A6C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725" b="1">
                <a:solidFill>
                  <a:srgbClr val="00A6C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725" b="1">
                <a:solidFill>
                  <a:srgbClr val="00A6C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725" b="1">
                <a:solidFill>
                  <a:srgbClr val="00A6C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725" b="1">
                <a:solidFill>
                  <a:srgbClr val="00A6C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0A6C8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0A6C8"/>
                </a:solidFill>
                <a:latin typeface="DejaVu Sans"/>
                <a:ea typeface="DejaVu Sans"/>
                <a:cs typeface="DejaVu Sans"/>
              </a:rPr>
              <a:t>Dashboard</a:t>
            </a:r>
          </a:p>
        </p:txBody>
      </p:sp>
      <p:sp>
        <p:nvSpPr>
          <p:cNvPr id="8" name="link-url-2">
            <a:extLst xmlns:a="http://schemas.openxmlformats.org/drawingml/2006/main">
              <a:ext uri="{FF2B5EF4-FFF2-40B4-BE49-F238E27FC236}">
                <a16:creationId xmlns:a16="http://schemas.microsoft.com/office/drawing/2014/main" id="{14B34FE7-FA19-42A4-885B-F05FE2283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543300"/>
            <a:ext cx="790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135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35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u="sng">
                <a:solidFill>
                  <a:srgbClr val="FFFFFF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b0c5361c6d2a4832"/>
              </a:rPr>
              <a:t>https://cardioia-fase3-dashboard.onrender.com/dashboard/monitoramento</a:t>
            </a:r>
          </a:p>
        </p:txBody>
      </p:sp>
      <p:sp>
        <p:nvSpPr>
          <p:cNvPr id="9" name="link-label-3">
            <a:extLst xmlns:a="http://schemas.openxmlformats.org/drawingml/2006/main">
              <a:ext uri="{FF2B5EF4-FFF2-40B4-BE49-F238E27FC236}">
                <a16:creationId xmlns:a16="http://schemas.microsoft.com/office/drawing/2014/main" id="{C7A120AA-6315-41A2-8EC1-22471E5CF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243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1725" b="1">
                <a:solidFill>
                  <a:srgbClr val="00A6C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725" b="1">
                <a:solidFill>
                  <a:srgbClr val="00A6C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725" b="1">
                <a:solidFill>
                  <a:srgbClr val="00A6C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725" b="1">
                <a:solidFill>
                  <a:srgbClr val="00A6C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725" b="1">
                <a:solidFill>
                  <a:srgbClr val="00A6C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725" b="1">
                <a:solidFill>
                  <a:srgbClr val="00A6C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725" b="1">
                <a:solidFill>
                  <a:srgbClr val="00A6C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725" b="1">
                <a:solidFill>
                  <a:srgbClr val="00A6C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725" b="1">
                <a:solidFill>
                  <a:srgbClr val="00A6C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725" b="1">
                <a:solidFill>
                  <a:srgbClr val="00A6C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0A6C8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0A6C8"/>
                </a:solidFill>
                <a:latin typeface="DejaVu Sans"/>
                <a:ea typeface="DejaVu Sans"/>
                <a:cs typeface="DejaVu Sans"/>
              </a:rPr>
              <a:t>Relatório Parte 1</a:t>
            </a:r>
          </a:p>
        </p:txBody>
      </p:sp>
      <p:sp>
        <p:nvSpPr>
          <p:cNvPr id="10" name="link-url-3">
            <a:extLst xmlns:a="http://schemas.openxmlformats.org/drawingml/2006/main">
              <a:ext uri="{FF2B5EF4-FFF2-40B4-BE49-F238E27FC236}">
                <a16:creationId xmlns:a16="http://schemas.microsoft.com/office/drawing/2014/main" id="{0A9F68A0-D335-4303-91B5-8ED7E1FC4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324350"/>
            <a:ext cx="790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135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35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u="sng">
                <a:solidFill>
                  <a:srgbClr val="FFFFFF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32456997e7bb42a3"/>
              </a:rPr>
              <a:t>https://github.com/FabricioMouzer/CardioIA-Fase3-Monitoramento-IoT/blob/main/docs/relatorios/CardioIA_Parte_1_Edge_Computing.pdf</a:t>
            </a:r>
          </a:p>
        </p:txBody>
      </p:sp>
      <p:sp>
        <p:nvSpPr>
          <p:cNvPr id="11" name="link-label-4">
            <a:extLst xmlns:a="http://schemas.openxmlformats.org/drawingml/2006/main">
              <a:ext uri="{FF2B5EF4-FFF2-40B4-BE49-F238E27FC236}">
                <a16:creationId xmlns:a16="http://schemas.microsoft.com/office/drawing/2014/main" id="{342AEC39-850D-4C56-9D39-749F3BE93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054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1725" b="1">
                <a:solidFill>
                  <a:srgbClr val="00A6C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725" b="1">
                <a:solidFill>
                  <a:srgbClr val="00A6C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725" b="1">
                <a:solidFill>
                  <a:srgbClr val="00A6C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725" b="1">
                <a:solidFill>
                  <a:srgbClr val="00A6C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725" b="1">
                <a:solidFill>
                  <a:srgbClr val="00A6C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725" b="1">
                <a:solidFill>
                  <a:srgbClr val="00A6C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725" b="1">
                <a:solidFill>
                  <a:srgbClr val="00A6C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725" b="1">
                <a:solidFill>
                  <a:srgbClr val="00A6C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725" b="1">
                <a:solidFill>
                  <a:srgbClr val="00A6C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725" b="1">
                <a:solidFill>
                  <a:srgbClr val="00A6C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0A6C8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0A6C8"/>
                </a:solidFill>
                <a:latin typeface="DejaVu Sans"/>
                <a:ea typeface="DejaVu Sans"/>
                <a:cs typeface="DejaVu Sans"/>
              </a:rPr>
              <a:t>Relatório Parte 2</a:t>
            </a:r>
          </a:p>
        </p:txBody>
      </p:sp>
      <p:sp>
        <p:nvSpPr>
          <p:cNvPr id="12" name="link-url-4">
            <a:extLst xmlns:a="http://schemas.openxmlformats.org/drawingml/2006/main">
              <a:ext uri="{FF2B5EF4-FFF2-40B4-BE49-F238E27FC236}">
                <a16:creationId xmlns:a16="http://schemas.microsoft.com/office/drawing/2014/main" id="{3B9DE485-C8F7-4C92-A22C-1D8347051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105400"/>
            <a:ext cx="790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135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35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u="sng">
                <a:solidFill>
                  <a:srgbClr val="FFFFFF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7a55139b4c6d45e7"/>
              </a:rPr>
              <a:t>https://github.com/FabricioMouzer/CardioIA-Fase3-Monitoramento-IoT/blob/main/docs/relatorios/CardioIA_Parte_2_MQTT_Dashboard.pdf</a:t>
            </a:r>
          </a:p>
        </p:txBody>
      </p:sp>
      <p:sp>
        <p:nvSpPr>
          <p:cNvPr id="13" name="links-note">
            <a:extLst xmlns:a="http://schemas.openxmlformats.org/drawingml/2006/main">
              <a:ext uri="{FF2B5EF4-FFF2-40B4-BE49-F238E27FC236}">
                <a16:creationId xmlns:a16="http://schemas.microsoft.com/office/drawing/2014/main" id="{BF93245E-6622-4FBE-96B7-955D90648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1350">
                <a:solidFill>
                  <a:srgbClr val="AFC3D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>
                <a:solidFill>
                  <a:srgbClr val="AFC3D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>
                <a:solidFill>
                  <a:srgbClr val="AFC3D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>
                <a:solidFill>
                  <a:srgbClr val="AFC3D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>
                <a:solidFill>
                  <a:srgbClr val="AFC3D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>
                <a:solidFill>
                  <a:srgbClr val="AFC3D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>
                <a:solidFill>
                  <a:srgbClr val="AFC3D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>
                <a:solidFill>
                  <a:srgbClr val="AFC3D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>
                <a:solidFill>
                  <a:srgbClr val="AFC3D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>
                <a:solidFill>
                  <a:srgbClr val="AFC3D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350">
                <a:solidFill>
                  <a:srgbClr val="AFC3D6"/>
                </a:solidFill>
                <a:latin typeface="DejaVu Sans"/>
                <a:ea typeface="DejaVu Sans"/>
                <a:cs typeface="DejaVu Sans"/>
              </a:defRPr>
            </a:pPr>
            <a:r>
              <a:rPr sz="1350">
                <a:solidFill>
                  <a:srgbClr val="AFC3D6"/>
                </a:solidFill>
                <a:latin typeface="DejaVu Sans"/>
                <a:ea typeface="DejaVu Sans"/>
                <a:cs typeface="DejaVu Sans"/>
              </a:rPr>
              <a:t>O vídeo do Ir Além 2 não integra o escopo obrigatório desta entrega.</a:t>
            </a:r>
          </a:p>
        </p:txBody>
      </p:sp>
    </p:spTree>
    <p:extLst>
      <p:ext uri="{BB962C8B-B14F-4D97-AF65-F5344CB8AC3E}">
        <p14:creationId xmlns:p14="http://schemas.microsoft.com/office/powerpoint/2010/main" val="8513994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2026-10-25T15:24:57.6910000Z</dcterms:created>
  <dcterms:modified xsi:type="dcterms:W3CDTF">2026-10-25T15:24:57.6910000Z</dcterms:modified>
</coreProperties>
</file>